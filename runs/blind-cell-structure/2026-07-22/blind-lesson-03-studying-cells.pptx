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06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:bleed_ring"/>
          <p:cNvSpPr/>
          <p:nvPr/>
        </p:nvSpPr>
        <p:spPr>
          <a:xfrm>
            <a:off x="8321040" y="-1280160"/>
            <a:ext cx="5120640" cy="5120640"/>
          </a:xfrm>
          <a:prstGeom prst="ellipse">
            <a:avLst/>
          </a:prstGeom>
          <a:noFill/>
          <a:ln w="25400">
            <a:solidFill>
              <a:srgbClr val="6F3F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::bleed_ring2"/>
          <p:cNvSpPr/>
          <p:nvPr/>
        </p:nvSpPr>
        <p:spPr>
          <a:xfrm>
            <a:off x="9464040" y="-137160"/>
            <a:ext cx="2834640" cy="2834640"/>
          </a:xfrm>
          <a:prstGeom prst="ellipse">
            <a:avLst/>
          </a:prstGeom>
          <a:noFill/>
          <a:ln w="19050">
            <a:solidFill>
              <a:srgbClr val="6F3F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ll::spec"/>
          <p:cNvSpPr/>
          <p:nvPr/>
        </p:nvSpPr>
        <p:spPr>
          <a:xfrm>
            <a:off x="566928" y="1417320"/>
            <a:ext cx="19659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5" name="txt::title"/>
          <p:cNvSpPr txBox="1"/>
          <p:nvPr/>
        </p:nvSpPr>
        <p:spPr>
          <a:xfrm>
            <a:off x="566928" y="2148840"/>
            <a:ext cx="9692640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Methods of studying cells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 i="0">
                <a:solidFill>
                  <a:srgbClr val="EAF1EF"/>
                </a:solidFill>
                <a:latin typeface="Calibri"/>
              </a:rPr>
              <a:t>Microscopy, magnification and cell fractionation</a:t>
            </a:r>
          </a:p>
        </p:txBody>
      </p:sp>
      <p:sp>
        <p:nvSpPr>
          <p:cNvPr id="6" name="txt::meta"/>
          <p:cNvSpPr txBox="1"/>
          <p:nvPr/>
        </p:nvSpPr>
        <p:spPr>
          <a:xfrm>
            <a:off x="566928" y="5394960"/>
            <a:ext cx="100584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8E6E2"/>
                </a:solidFill>
                <a:latin typeface="Calibri"/>
              </a:rPr>
              <a:t>Year 12 Biology  -  Lesson 3 of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8E6E2"/>
                </a:solidFill>
                <a:latin typeface="Calibri"/>
              </a:rPr>
              <a:t>Class 12B  -  40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Lesson on a page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2</a:t>
            </a:r>
          </a:p>
        </p:txBody>
      </p:sp>
      <p:sp>
        <p:nvSpPr>
          <p:cNvPr id="6" name="card::staff"/>
          <p:cNvSpPr/>
          <p:nvPr/>
        </p:nvSpPr>
        <p:spPr>
          <a:xfrm>
            <a:off x="566928" y="1554480"/>
            <a:ext cx="5806440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stafftbl"/>
          <p:cNvSpPr txBox="1"/>
          <p:nvPr/>
        </p:nvSpPr>
        <p:spPr>
          <a:xfrm>
            <a:off x="841247" y="1810512"/>
            <a:ext cx="5257800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Teacher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Miss A. Brown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Class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12B (24 students)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Date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Friday, period 1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Unit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3.2 Cells  -  lesson 3 of 6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Prior learning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Eukaryotic and prokaryotic cell structure</a:t>
            </a:r>
          </a:p>
        </p:txBody>
      </p:sp>
      <p:sp>
        <p:nvSpPr>
          <p:cNvPr id="8" name="card::spec"/>
          <p:cNvSpPr/>
          <p:nvPr/>
        </p:nvSpPr>
        <p:spPr>
          <a:xfrm>
            <a:off x="6693407" y="1554480"/>
            <a:ext cx="4931359" cy="4297680"/>
          </a:xfrm>
          <a:prstGeom prst="roundRect">
            <a:avLst>
              <a:gd name="adj" fmla="val 5500"/>
            </a:avLst>
          </a:prstGeom>
          <a:solidFill>
            <a:srgbClr val="FBF2E4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::specbody"/>
          <p:cNvSpPr txBox="1"/>
          <p:nvPr/>
        </p:nvSpPr>
        <p:spPr>
          <a:xfrm>
            <a:off x="6949440" y="1792224"/>
            <a:ext cx="4419295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6F3F09"/>
                </a:solidFill>
                <a:latin typeface="Trebuchet MS"/>
              </a:rPr>
              <a:t>What this lesson serves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3.2.1.3 Microscopy: resolution vs magnification; light, TEM, SEM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Magnification calculation with unit conversion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Cell fractionation by differential centrifugation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Required-practical skill: optical microscopy and scientific drawing.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640F"/>
                </a:solidFill>
                <a:latin typeface="Trebuchet MS"/>
              </a:rPr>
              <a:t>RETRIEVAL · DO NOW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Do Now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3</a:t>
            </a:r>
          </a:p>
        </p:txBody>
      </p:sp>
      <p:sp>
        <p:nvSpPr>
          <p:cNvPr id="7" name="txt::donow-instr"/>
          <p:cNvSpPr txBox="1"/>
          <p:nvPr/>
        </p:nvSpPr>
        <p:spPr>
          <a:xfrm>
            <a:off x="566928" y="1527048"/>
            <a:ext cx="10058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C6570"/>
                </a:solidFill>
                <a:latin typeface="Calibri"/>
              </a:rPr>
              <a:t>Five minutes, silent, closed book.</a:t>
            </a:r>
          </a:p>
        </p:txBody>
      </p:sp>
      <p:sp>
        <p:nvSpPr>
          <p:cNvPr id="8" name="card::donow0"/>
          <p:cNvSpPr/>
          <p:nvPr/>
        </p:nvSpPr>
        <p:spPr>
          <a:xfrm>
            <a:off x="566928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ll::dn0"/>
          <p:cNvSpPr/>
          <p:nvPr/>
        </p:nvSpPr>
        <p:spPr>
          <a:xfrm>
            <a:off x="768096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Last lesson</a:t>
            </a:r>
          </a:p>
        </p:txBody>
      </p:sp>
      <p:sp>
        <p:nvSpPr>
          <p:cNvPr id="10" name="txt::donow0"/>
          <p:cNvSpPr txBox="1"/>
          <p:nvPr/>
        </p:nvSpPr>
        <p:spPr>
          <a:xfrm>
            <a:off x="822960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Give one feature found in all prokaryotes.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What is a capsid?</a:t>
            </a:r>
          </a:p>
        </p:txBody>
      </p:sp>
      <p:sp>
        <p:nvSpPr>
          <p:cNvPr id="11" name="card::donow1"/>
          <p:cNvSpPr/>
          <p:nvPr/>
        </p:nvSpPr>
        <p:spPr>
          <a:xfrm>
            <a:off x="4359554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ll::dn1"/>
          <p:cNvSpPr/>
          <p:nvPr/>
        </p:nvSpPr>
        <p:spPr>
          <a:xfrm>
            <a:off x="4560722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Earlier this year</a:t>
            </a:r>
          </a:p>
        </p:txBody>
      </p:sp>
      <p:sp>
        <p:nvSpPr>
          <p:cNvPr id="13" name="txt::donow1"/>
          <p:cNvSpPr txBox="1"/>
          <p:nvPr/>
        </p:nvSpPr>
        <p:spPr>
          <a:xfrm>
            <a:off x="4615586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Convert 2 mm into micrometres.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How many nm are in 1 um?</a:t>
            </a:r>
          </a:p>
        </p:txBody>
      </p:sp>
      <p:sp>
        <p:nvSpPr>
          <p:cNvPr id="14" name="card::donow2"/>
          <p:cNvSpPr/>
          <p:nvPr/>
        </p:nvSpPr>
        <p:spPr>
          <a:xfrm>
            <a:off x="8152180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ll::dn2"/>
          <p:cNvSpPr/>
          <p:nvPr/>
        </p:nvSpPr>
        <p:spPr>
          <a:xfrm>
            <a:off x="8353348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Stretch</a:t>
            </a:r>
          </a:p>
        </p:txBody>
      </p:sp>
      <p:sp>
        <p:nvSpPr>
          <p:cNvPr id="16" name="txt::donow2"/>
          <p:cNvSpPr txBox="1"/>
          <p:nvPr/>
        </p:nvSpPr>
        <p:spPr>
          <a:xfrm>
            <a:off x="8408212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A student cannot see mitochondria with a light microscope.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Suggest why - be precise.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4</a:t>
            </a:r>
          </a:p>
        </p:txBody>
      </p:sp>
      <p:sp>
        <p:nvSpPr>
          <p:cNvPr id="6" name="txt::objhdr1"/>
          <p:cNvSpPr txBox="1"/>
          <p:nvPr/>
        </p:nvSpPr>
        <p:spPr>
          <a:xfrm>
            <a:off x="2212848" y="1289304"/>
            <a:ext cx="60350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6570"/>
                </a:solidFill>
                <a:latin typeface="Trebuchet MS"/>
              </a:rPr>
              <a:t>OBJECTIVE</a:t>
            </a:r>
          </a:p>
        </p:txBody>
      </p:sp>
      <p:sp>
        <p:nvSpPr>
          <p:cNvPr id="7" name="txt::objhdr2"/>
          <p:cNvSpPr txBox="1"/>
          <p:nvPr/>
        </p:nvSpPr>
        <p:spPr>
          <a:xfrm>
            <a:off x="8247888" y="1289304"/>
            <a:ext cx="3376879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6570"/>
                </a:solidFill>
                <a:latin typeface="Trebuchet MS"/>
              </a:rPr>
              <a:t>HOW IT IS ASSESSED</a:t>
            </a:r>
          </a:p>
        </p:txBody>
      </p:sp>
      <p:sp>
        <p:nvSpPr>
          <p:cNvPr id="8" name="pill::tier0"/>
          <p:cNvSpPr/>
          <p:nvPr/>
        </p:nvSpPr>
        <p:spPr>
          <a:xfrm>
            <a:off x="566928" y="17465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ALL</a:t>
            </a:r>
          </a:p>
        </p:txBody>
      </p:sp>
      <p:sp>
        <p:nvSpPr>
          <p:cNvPr id="9" name="card::obj0"/>
          <p:cNvSpPr/>
          <p:nvPr/>
        </p:nvSpPr>
        <p:spPr>
          <a:xfrm>
            <a:off x="2212848" y="16002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::obj0"/>
          <p:cNvSpPr txBox="1"/>
          <p:nvPr/>
        </p:nvSpPr>
        <p:spPr>
          <a:xfrm>
            <a:off x="2395728" y="17282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State the difference between magnification and resolution.</a:t>
            </a:r>
          </a:p>
        </p:txBody>
      </p:sp>
      <p:sp>
        <p:nvSpPr>
          <p:cNvPr id="11" name="card::assess0"/>
          <p:cNvSpPr/>
          <p:nvPr/>
        </p:nvSpPr>
        <p:spPr>
          <a:xfrm>
            <a:off x="8247888" y="16002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FBF2E4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::assess0"/>
          <p:cNvSpPr txBox="1"/>
          <p:nvPr/>
        </p:nvSpPr>
        <p:spPr>
          <a:xfrm>
            <a:off x="8430767" y="17282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3F09"/>
                </a:solidFill>
                <a:latin typeface="Calibri"/>
              </a:rPr>
              <a:t>1-mark recall (AO1)</a:t>
            </a:r>
          </a:p>
        </p:txBody>
      </p:sp>
      <p:sp>
        <p:nvSpPr>
          <p:cNvPr id="13" name="pill::tier1"/>
          <p:cNvSpPr/>
          <p:nvPr/>
        </p:nvSpPr>
        <p:spPr>
          <a:xfrm>
            <a:off x="566928" y="31181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MOST</a:t>
            </a:r>
          </a:p>
        </p:txBody>
      </p:sp>
      <p:sp>
        <p:nvSpPr>
          <p:cNvPr id="14" name="card::obj1"/>
          <p:cNvSpPr/>
          <p:nvPr/>
        </p:nvSpPr>
        <p:spPr>
          <a:xfrm>
            <a:off x="2212848" y="29718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::obj1"/>
          <p:cNvSpPr txBox="1"/>
          <p:nvPr/>
        </p:nvSpPr>
        <p:spPr>
          <a:xfrm>
            <a:off x="2395728" y="30998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Calculate magnification and convert the units correctly.</a:t>
            </a:r>
          </a:p>
        </p:txBody>
      </p:sp>
      <p:sp>
        <p:nvSpPr>
          <p:cNvPr id="16" name="card::assess1"/>
          <p:cNvSpPr/>
          <p:nvPr/>
        </p:nvSpPr>
        <p:spPr>
          <a:xfrm>
            <a:off x="8247888" y="29718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FBF2E4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xt::assess1"/>
          <p:cNvSpPr txBox="1"/>
          <p:nvPr/>
        </p:nvSpPr>
        <p:spPr>
          <a:xfrm>
            <a:off x="8430767" y="30998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3F09"/>
                </a:solidFill>
                <a:latin typeface="Calibri"/>
              </a:rPr>
              <a:t>Calculate (AO2)</a:t>
            </a:r>
          </a:p>
        </p:txBody>
      </p:sp>
      <p:sp>
        <p:nvSpPr>
          <p:cNvPr id="18" name="pill::tier2"/>
          <p:cNvSpPr/>
          <p:nvPr/>
        </p:nvSpPr>
        <p:spPr>
          <a:xfrm>
            <a:off x="566928" y="44897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SOME</a:t>
            </a:r>
          </a:p>
        </p:txBody>
      </p:sp>
      <p:sp>
        <p:nvSpPr>
          <p:cNvPr id="19" name="card::obj2"/>
          <p:cNvSpPr/>
          <p:nvPr/>
        </p:nvSpPr>
        <p:spPr>
          <a:xfrm>
            <a:off x="2212848" y="43434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::obj2"/>
          <p:cNvSpPr txBox="1"/>
          <p:nvPr/>
        </p:nvSpPr>
        <p:spPr>
          <a:xfrm>
            <a:off x="2395728" y="44714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Describe how cell fractionation separates organelles.</a:t>
            </a:r>
          </a:p>
        </p:txBody>
      </p:sp>
      <p:sp>
        <p:nvSpPr>
          <p:cNvPr id="21" name="card::assess2"/>
          <p:cNvSpPr/>
          <p:nvPr/>
        </p:nvSpPr>
        <p:spPr>
          <a:xfrm>
            <a:off x="8247888" y="43434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FBF2E4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xt::assess2"/>
          <p:cNvSpPr txBox="1"/>
          <p:nvPr/>
        </p:nvSpPr>
        <p:spPr>
          <a:xfrm>
            <a:off x="8430767" y="44714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3F09"/>
                </a:solidFill>
                <a:latin typeface="Calibri"/>
              </a:rPr>
              <a:t>2-mark Describe (AO1)</a:t>
            </a:r>
          </a:p>
        </p:txBody>
      </p:sp>
      <p:sp>
        <p:nvSpPr>
          <p:cNvPr id="23" name="txt::objnote"/>
          <p:cNvSpPr txBox="1"/>
          <p:nvPr/>
        </p:nvSpPr>
        <p:spPr>
          <a:xfrm>
            <a:off x="566928" y="5696712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Calculation marks split method from answer - show every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640F"/>
                </a:solidFill>
                <a:latin typeface="Trebuchet MS"/>
              </a:rPr>
              <a:t>TIER-3 VOCABULARY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Key words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5</a:t>
            </a:r>
          </a:p>
        </p:txBody>
      </p:sp>
      <p:sp>
        <p:nvSpPr>
          <p:cNvPr id="7" name="card::kw0"/>
          <p:cNvSpPr/>
          <p:nvPr/>
        </p:nvSpPr>
        <p:spPr>
          <a:xfrm>
            <a:off x="566928" y="1783080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::kw0"/>
          <p:cNvSpPr txBox="1"/>
          <p:nvPr/>
        </p:nvSpPr>
        <p:spPr>
          <a:xfrm>
            <a:off x="786384" y="1901952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6F3F09"/>
                </a:solidFill>
                <a:latin typeface="Trebuchet MS"/>
              </a:rPr>
              <a:t>Magnification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How many times bigger the image is than the object.</a:t>
            </a:r>
          </a:p>
        </p:txBody>
      </p:sp>
      <p:sp>
        <p:nvSpPr>
          <p:cNvPr id="9" name="card::kw1"/>
          <p:cNvSpPr/>
          <p:nvPr/>
        </p:nvSpPr>
        <p:spPr>
          <a:xfrm>
            <a:off x="6255867" y="1783080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::kw1"/>
          <p:cNvSpPr txBox="1"/>
          <p:nvPr/>
        </p:nvSpPr>
        <p:spPr>
          <a:xfrm>
            <a:off x="6475323" y="1901952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6F3F09"/>
                </a:solidFill>
                <a:latin typeface="Trebuchet MS"/>
              </a:rPr>
              <a:t>Resolution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The smallest distance at which two points look separate.</a:t>
            </a:r>
          </a:p>
        </p:txBody>
      </p:sp>
      <p:sp>
        <p:nvSpPr>
          <p:cNvPr id="11" name="card::kw2"/>
          <p:cNvSpPr/>
          <p:nvPr/>
        </p:nvSpPr>
        <p:spPr>
          <a:xfrm>
            <a:off x="566928" y="2935224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::kw2"/>
          <p:cNvSpPr txBox="1"/>
          <p:nvPr/>
        </p:nvSpPr>
        <p:spPr>
          <a:xfrm>
            <a:off x="786384" y="3054096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6F3F09"/>
                </a:solidFill>
                <a:latin typeface="Trebuchet MS"/>
              </a:rPr>
              <a:t>Differential centrifugation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Spinning a sample at increasing speeds to separate organelles.</a:t>
            </a:r>
          </a:p>
        </p:txBody>
      </p:sp>
      <p:sp>
        <p:nvSpPr>
          <p:cNvPr id="13" name="card::kw3"/>
          <p:cNvSpPr/>
          <p:nvPr/>
        </p:nvSpPr>
        <p:spPr>
          <a:xfrm>
            <a:off x="6255867" y="2935224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::kw3"/>
          <p:cNvSpPr txBox="1"/>
          <p:nvPr/>
        </p:nvSpPr>
        <p:spPr>
          <a:xfrm>
            <a:off x="6475323" y="3054096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6F3F09"/>
                </a:solidFill>
                <a:latin typeface="Trebuchet MS"/>
              </a:rPr>
              <a:t>Supernatant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The liquid above the pellet after centrifuging.</a:t>
            </a:r>
          </a:p>
        </p:txBody>
      </p:sp>
      <p:sp>
        <p:nvSpPr>
          <p:cNvPr id="15" name="card::kw4"/>
          <p:cNvSpPr/>
          <p:nvPr/>
        </p:nvSpPr>
        <p:spPr>
          <a:xfrm>
            <a:off x="566928" y="4087368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::kw4"/>
          <p:cNvSpPr txBox="1"/>
          <p:nvPr/>
        </p:nvSpPr>
        <p:spPr>
          <a:xfrm>
            <a:off x="786384" y="4206240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6F3F09"/>
                </a:solidFill>
                <a:latin typeface="Trebuchet MS"/>
              </a:rPr>
              <a:t>Pellet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The solid that collects at the bottom after centrifuging.</a:t>
            </a:r>
          </a:p>
        </p:txBody>
      </p:sp>
      <p:sp>
        <p:nvSpPr>
          <p:cNvPr id="17" name="card::kw5"/>
          <p:cNvSpPr/>
          <p:nvPr/>
        </p:nvSpPr>
        <p:spPr>
          <a:xfrm>
            <a:off x="6255867" y="4087368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::kw5"/>
          <p:cNvSpPr txBox="1"/>
          <p:nvPr/>
        </p:nvSpPr>
        <p:spPr>
          <a:xfrm>
            <a:off x="6475323" y="4206240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6F3F09"/>
                </a:solidFill>
                <a:latin typeface="Trebuchet MS"/>
              </a:rPr>
              <a:t>Isotonic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Having the same water potential as the organelles.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Magnification and resolution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6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3272E"/>
                </a:solidFill>
                <a:latin typeface="Calibri"/>
              </a:rPr>
              <a:t>These two ideas are not the same - AQA tests them as separate terms.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Magnification is how many times larger the image is than the object.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Resolution is the smallest distance at which two points can still be told apart.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An electron microscope has a much higher resolution, so it gives a far clearer image than a light microscope.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Three microscopes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7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6400800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5815584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Light microscope: resolution about 0.2 um; views living specimens; low resolution.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TEM uses electrons where the light microscope uses light, giving much higher resolution (about 0.1 nm).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TEM gives a 2-D image of internal detail; SEM gives a 3-D image of the surface.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Both electron microscopes need a vacuum and non-living, prepared specimens.</a:t>
            </a:r>
          </a:p>
        </p:txBody>
      </p:sp>
      <p:sp>
        <p:nvSpPr>
          <p:cNvPr id="8" name="card::side"/>
          <p:cNvSpPr/>
          <p:nvPr/>
        </p:nvSpPr>
        <p:spPr>
          <a:xfrm>
            <a:off x="7287768" y="1600200"/>
            <a:ext cx="4336999" cy="4297680"/>
          </a:xfrm>
          <a:prstGeom prst="roundRect">
            <a:avLst>
              <a:gd name="adj" fmla="val 5500"/>
            </a:avLst>
          </a:prstGeom>
          <a:solidFill>
            <a:srgbClr val="FBF2E4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::side"/>
          <p:cNvSpPr txBox="1"/>
          <p:nvPr/>
        </p:nvSpPr>
        <p:spPr>
          <a:xfrm>
            <a:off x="7525512" y="1819656"/>
            <a:ext cx="3861511" cy="385876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6F3F09"/>
                </a:solidFill>
                <a:latin typeface="Trebuchet MS"/>
              </a:rPr>
              <a:t>Paired contrast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0640F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Compare like with like: 'TEM uses electrons, the light microscope uses light.'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B0640F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State both halves of each contrast to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Cell fractionation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8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3272E"/>
                </a:solidFill>
                <a:latin typeface="Calibri"/>
              </a:rPr>
              <a:t>Cell fractionation separates organelles so they can be studied.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First, homogenise the tissue in a cold, isotonic, buffered solution, then filter it.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Then spin the sample in a centrifuge and keep increasing the speed.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0640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 faster you spin, the smaller the structure you can separate - right down to individual molecules such as DNA.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How magnification works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9</a:t>
            </a:r>
          </a:p>
        </p:txBody>
      </p:sp>
      <p:sp>
        <p:nvSpPr>
          <p:cNvPr id="6" name="card::diagram"/>
          <p:cNvSpPr/>
          <p:nvPr/>
        </p:nvSpPr>
        <p:spPr>
          <a:xfrm>
            <a:off x="566928" y="1645920"/>
            <a:ext cx="753739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g::obj"/>
          <p:cNvSpPr/>
          <p:nvPr/>
        </p:nvSpPr>
        <p:spPr>
          <a:xfrm>
            <a:off x="1207007" y="3429000"/>
            <a:ext cx="1188720" cy="731520"/>
          </a:xfrm>
          <a:prstGeom prst="roundRect">
            <a:avLst>
              <a:gd name="adj" fmla="val 18000"/>
            </a:avLst>
          </a:prstGeom>
          <a:solidFill>
            <a:srgbClr val="6F3F0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Object</a:t>
            </a:r>
          </a:p>
        </p:txBody>
      </p:sp>
      <p:sp>
        <p:nvSpPr>
          <p:cNvPr id="8" name="diag::lens"/>
          <p:cNvSpPr/>
          <p:nvPr/>
        </p:nvSpPr>
        <p:spPr>
          <a:xfrm>
            <a:off x="3767328" y="2926080"/>
            <a:ext cx="1143000" cy="1737360"/>
          </a:xfrm>
          <a:prstGeom prst="ellipse">
            <a:avLst/>
          </a:prstGeom>
          <a:solidFill>
            <a:srgbClr val="6F3F0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Lens</a:t>
            </a:r>
          </a:p>
        </p:txBody>
      </p:sp>
      <p:sp>
        <p:nvSpPr>
          <p:cNvPr id="9" name="diag::img"/>
          <p:cNvSpPr/>
          <p:nvPr/>
        </p:nvSpPr>
        <p:spPr>
          <a:xfrm>
            <a:off x="5361127" y="2697480"/>
            <a:ext cx="2377440" cy="2194560"/>
          </a:xfrm>
          <a:prstGeom prst="roundRect">
            <a:avLst>
              <a:gd name="adj" fmla="val 18000"/>
            </a:avLst>
          </a:prstGeom>
          <a:solidFill>
            <a:srgbClr val="B064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Magnified image</a:t>
            </a:r>
          </a:p>
        </p:txBody>
      </p:sp>
      <p:sp>
        <p:nvSpPr>
          <p:cNvPr id="10" name="card::legend"/>
          <p:cNvSpPr/>
          <p:nvPr/>
        </p:nvSpPr>
        <p:spPr>
          <a:xfrm>
            <a:off x="8424367" y="1645920"/>
            <a:ext cx="3200400" cy="137159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::legendttl"/>
          <p:cNvSpPr txBox="1"/>
          <p:nvPr/>
        </p:nvSpPr>
        <p:spPr>
          <a:xfrm>
            <a:off x="8607247" y="1764792"/>
            <a:ext cx="283464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F3F09"/>
                </a:solidFill>
                <a:latin typeface="Trebuchet MS"/>
              </a:rPr>
              <a:t>Key</a:t>
            </a:r>
          </a:p>
        </p:txBody>
      </p:sp>
      <p:sp>
        <p:nvSpPr>
          <p:cNvPr id="12" name="deco::swatch"/>
          <p:cNvSpPr/>
          <p:nvPr/>
        </p:nvSpPr>
        <p:spPr>
          <a:xfrm>
            <a:off x="8625535" y="2157984"/>
            <a:ext cx="219456" cy="219456"/>
          </a:xfrm>
          <a:prstGeom prst="rect">
            <a:avLst/>
          </a:prstGeom>
          <a:solidFill>
            <a:srgbClr val="6F3F09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::legend0"/>
          <p:cNvSpPr txBox="1"/>
          <p:nvPr/>
        </p:nvSpPr>
        <p:spPr>
          <a:xfrm>
            <a:off x="8936431" y="2084832"/>
            <a:ext cx="2523744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3272E"/>
                </a:solidFill>
                <a:latin typeface="Calibri"/>
              </a:rPr>
              <a:t>Object and lens</a:t>
            </a:r>
          </a:p>
        </p:txBody>
      </p:sp>
      <p:sp>
        <p:nvSpPr>
          <p:cNvPr id="14" name="deco::swatch"/>
          <p:cNvSpPr/>
          <p:nvPr/>
        </p:nvSpPr>
        <p:spPr>
          <a:xfrm>
            <a:off x="8625535" y="2542032"/>
            <a:ext cx="219456" cy="219456"/>
          </a:xfrm>
          <a:prstGeom prst="rect">
            <a:avLst/>
          </a:prstGeom>
          <a:solidFill>
            <a:srgbClr val="B0640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::legend1"/>
          <p:cNvSpPr txBox="1"/>
          <p:nvPr/>
        </p:nvSpPr>
        <p:spPr>
          <a:xfrm>
            <a:off x="8936431" y="2468880"/>
            <a:ext cx="2523744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3272E"/>
                </a:solidFill>
                <a:latin typeface="Calibri"/>
              </a:rPr>
              <a:t>Magnified image</a:t>
            </a:r>
          </a:p>
        </p:txBody>
      </p:sp>
      <p:sp>
        <p:nvSpPr>
          <p:cNvPr id="16" name="txt::diagcap"/>
          <p:cNvSpPr txBox="1"/>
          <p:nvPr/>
        </p:nvSpPr>
        <p:spPr>
          <a:xfrm>
            <a:off x="8424367" y="4754880"/>
            <a:ext cx="32004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magnification = image size / actual size. The image is many times larger than the object.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640F"/>
                </a:solidFill>
                <a:latin typeface="Trebuchet MS"/>
              </a:rPr>
              <a:t>WORKED EXAMPLE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Worked example: magnification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10</a:t>
            </a:r>
          </a:p>
        </p:txBody>
      </p:sp>
      <p:sp>
        <p:nvSpPr>
          <p:cNvPr id="7" name="card::we0"/>
          <p:cNvSpPr/>
          <p:nvPr/>
        </p:nvSpPr>
        <p:spPr>
          <a:xfrm>
            <a:off x="566928" y="1645920"/>
            <a:ext cx="5368899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ll::we0"/>
          <p:cNvSpPr/>
          <p:nvPr/>
        </p:nvSpPr>
        <p:spPr>
          <a:xfrm>
            <a:off x="786384" y="1865376"/>
            <a:ext cx="4929987" cy="40233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I do  ·  I model it</a:t>
            </a:r>
          </a:p>
        </p:txBody>
      </p:sp>
      <p:sp>
        <p:nvSpPr>
          <p:cNvPr id="9" name="txt::we0"/>
          <p:cNvSpPr txBox="1"/>
          <p:nvPr/>
        </p:nvSpPr>
        <p:spPr>
          <a:xfrm>
            <a:off x="841247" y="2432304"/>
            <a:ext cx="4820259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Image size = 40 mm, magnification = x 400. Find the actual size.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Rearrange: actual size = image size / magnification.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actual = 40 / 400 = 0.1 mm.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Convert to micrometres: 0.1 mm x 1000 = 100 um (a separate mark).</a:t>
            </a:r>
          </a:p>
        </p:txBody>
      </p:sp>
      <p:sp>
        <p:nvSpPr>
          <p:cNvPr id="10" name="card::we1"/>
          <p:cNvSpPr/>
          <p:nvPr/>
        </p:nvSpPr>
        <p:spPr>
          <a:xfrm>
            <a:off x="6255867" y="1645920"/>
            <a:ext cx="5368899" cy="3977639"/>
          </a:xfrm>
          <a:prstGeom prst="roundRect">
            <a:avLst>
              <a:gd name="adj" fmla="val 5500"/>
            </a:avLst>
          </a:prstGeom>
          <a:solidFill>
            <a:srgbClr val="FBF2E4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ll::we1"/>
          <p:cNvSpPr/>
          <p:nvPr/>
        </p:nvSpPr>
        <p:spPr>
          <a:xfrm>
            <a:off x="6475323" y="1865376"/>
            <a:ext cx="4929987" cy="40233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We do  ·  we try it together</a:t>
            </a:r>
          </a:p>
        </p:txBody>
      </p:sp>
      <p:sp>
        <p:nvSpPr>
          <p:cNvPr id="12" name="txt::we1"/>
          <p:cNvSpPr txBox="1"/>
          <p:nvPr/>
        </p:nvSpPr>
        <p:spPr>
          <a:xfrm>
            <a:off x="6530187" y="2432304"/>
            <a:ext cx="4820259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New values: image size = 25 mm, magnification = x 500.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We rearrange, divide, then convert the units together.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B0640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Show method and answer on separate lines.</a:t>
            </a:r>
          </a:p>
        </p:txBody>
      </p:sp>
      <p:sp>
        <p:nvSpPr>
          <p:cNvPr id="13" name="txt::wenote"/>
          <p:cNvSpPr txBox="1"/>
          <p:nvPr/>
        </p:nvSpPr>
        <p:spPr>
          <a:xfrm>
            <a:off x="566928" y="5769864"/>
            <a:ext cx="1105783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C6570"/>
                </a:solidFill>
                <a:latin typeface="Calibri"/>
              </a:rPr>
              <a:t>AQA pays the unit conversion as its own mark - never skip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640F"/>
                </a:solidFill>
                <a:latin typeface="Trebuchet MS"/>
              </a:rPr>
              <a:t>INDEPENDENT PRACTICE · YOU DO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Exam-style question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11</a:t>
            </a:r>
          </a:p>
        </p:txBody>
      </p:sp>
      <p:sp>
        <p:nvSpPr>
          <p:cNvPr id="7" name="card::exam"/>
          <p:cNvSpPr/>
          <p:nvPr/>
        </p:nvSpPr>
        <p:spPr>
          <a:xfrm>
            <a:off x="566928" y="1691640"/>
            <a:ext cx="11057839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ll::tag"/>
          <p:cNvSpPr/>
          <p:nvPr/>
        </p:nvSpPr>
        <p:spPr>
          <a:xfrm>
            <a:off x="10765231" y="1929384"/>
            <a:ext cx="585216" cy="329184"/>
          </a:xfrm>
          <a:prstGeom prst="roundRect">
            <a:avLst>
              <a:gd name="adj" fmla="val 50000"/>
            </a:avLst>
          </a:prstGeom>
          <a:solidFill>
            <a:srgbClr val="FBF2E4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F3F09"/>
                </a:solidFill>
                <a:latin typeface="Trebuchet MS"/>
              </a:rPr>
              <a:t>AO2</a:t>
            </a:r>
          </a:p>
        </p:txBody>
      </p:sp>
      <p:sp>
        <p:nvSpPr>
          <p:cNvPr id="9" name="pill::tag"/>
          <p:cNvSpPr/>
          <p:nvPr/>
        </p:nvSpPr>
        <p:spPr>
          <a:xfrm>
            <a:off x="9704527" y="1929384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FBF2E4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F3F09"/>
                </a:solidFill>
                <a:latin typeface="Trebuchet MS"/>
              </a:rPr>
              <a:t>2 marks</a:t>
            </a:r>
          </a:p>
        </p:txBody>
      </p:sp>
      <p:sp>
        <p:nvSpPr>
          <p:cNvPr id="10" name="pill::tag"/>
          <p:cNvSpPr/>
          <p:nvPr/>
        </p:nvSpPr>
        <p:spPr>
          <a:xfrm>
            <a:off x="8460943" y="1929384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FBF2E4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F3F09"/>
                </a:solidFill>
                <a:latin typeface="Trebuchet MS"/>
              </a:rPr>
              <a:t>Calculate</a:t>
            </a:r>
          </a:p>
        </p:txBody>
      </p:sp>
      <p:sp>
        <p:nvSpPr>
          <p:cNvPr id="11" name="txt::examstem"/>
          <p:cNvSpPr txBox="1"/>
          <p:nvPr/>
        </p:nvSpPr>
        <p:spPr>
          <a:xfrm>
            <a:off x="877824" y="2468880"/>
            <a:ext cx="10436047" cy="2377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3272E"/>
                </a:solidFill>
                <a:latin typeface="Calibri"/>
              </a:rPr>
              <a:t>A student measures an alveolus on a 1 mm scale as 6 mm across.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3272E"/>
                </a:solidFill>
                <a:latin typeface="Calibri"/>
              </a:rPr>
              <a:t>Give the uncertainty of this two-point measurement and calculate the percentage error.</a:t>
            </a:r>
          </a:p>
        </p:txBody>
      </p:sp>
      <p:sp>
        <p:nvSpPr>
          <p:cNvPr id="12" name="card::examinstr"/>
          <p:cNvSpPr/>
          <p:nvPr/>
        </p:nvSpPr>
        <p:spPr>
          <a:xfrm>
            <a:off x="566928" y="5276088"/>
            <a:ext cx="11057839" cy="603504"/>
          </a:xfrm>
          <a:prstGeom prst="roundRect">
            <a:avLst>
              <a:gd name="adj" fmla="val 5500"/>
            </a:avLst>
          </a:prstGeom>
          <a:solidFill>
            <a:srgbClr val="B0640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::examinstr"/>
          <p:cNvSpPr txBox="1"/>
          <p:nvPr/>
        </p:nvSpPr>
        <p:spPr>
          <a:xfrm>
            <a:off x="841247" y="5321808"/>
            <a:ext cx="10509199" cy="51206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Work through questions 1 to 6 on the sheet on your own now.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B06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3.2.1.3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640F"/>
                </a:solidFill>
                <a:latin typeface="Trebuchet MS"/>
              </a:rPr>
              <a:t>PLENARY · HINGE QUESTION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6F3F09"/>
                </a:solidFill>
                <a:latin typeface="Trebuchet MS"/>
              </a:rPr>
              <a:t>Plenary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3.2.1.3 Methods of studying cells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12</a:t>
            </a:r>
          </a:p>
        </p:txBody>
      </p:sp>
      <p:sp>
        <p:nvSpPr>
          <p:cNvPr id="7" name="card::hingeq"/>
          <p:cNvSpPr/>
          <p:nvPr/>
        </p:nvSpPr>
        <p:spPr>
          <a:xfrm>
            <a:off x="566928" y="1645920"/>
            <a:ext cx="11057839" cy="868680"/>
          </a:xfrm>
          <a:prstGeom prst="roundRect">
            <a:avLst>
              <a:gd name="adj" fmla="val 5500"/>
            </a:avLst>
          </a:prstGeom>
          <a:solidFill>
            <a:srgbClr val="B0640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::hingeq"/>
          <p:cNvSpPr txBox="1"/>
          <p:nvPr/>
        </p:nvSpPr>
        <p:spPr>
          <a:xfrm>
            <a:off x="859536" y="1737360"/>
            <a:ext cx="10472623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Trebuchet MS"/>
              </a:rPr>
              <a:t>A light microscope cannot show two organelles that are very close together. Why?</a:t>
            </a:r>
          </a:p>
        </p:txBody>
      </p:sp>
      <p:sp>
        <p:nvSpPr>
          <p:cNvPr id="9" name="card::opt0"/>
          <p:cNvSpPr/>
          <p:nvPr/>
        </p:nvSpPr>
        <p:spPr>
          <a:xfrm>
            <a:off x="566928" y="2743200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ll::opt0"/>
          <p:cNvSpPr/>
          <p:nvPr/>
        </p:nvSpPr>
        <p:spPr>
          <a:xfrm>
            <a:off x="749808" y="29352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B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F3F09"/>
                </a:solidFill>
                <a:latin typeface="Trebuchet MS"/>
              </a:rPr>
              <a:t>A</a:t>
            </a:r>
          </a:p>
        </p:txBody>
      </p:sp>
      <p:sp>
        <p:nvSpPr>
          <p:cNvPr id="11" name="txt::opt0"/>
          <p:cNvSpPr txBox="1"/>
          <p:nvPr/>
        </p:nvSpPr>
        <p:spPr>
          <a:xfrm>
            <a:off x="1280160" y="2834640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Its magnification is too low.</a:t>
            </a:r>
          </a:p>
        </p:txBody>
      </p:sp>
      <p:sp>
        <p:nvSpPr>
          <p:cNvPr id="12" name="card::opt1"/>
          <p:cNvSpPr/>
          <p:nvPr/>
        </p:nvSpPr>
        <p:spPr>
          <a:xfrm>
            <a:off x="6233007" y="2743200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ll::opt1"/>
          <p:cNvSpPr/>
          <p:nvPr/>
        </p:nvSpPr>
        <p:spPr>
          <a:xfrm>
            <a:off x="6415887" y="29352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B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F3F09"/>
                </a:solidFill>
                <a:latin typeface="Trebuchet MS"/>
              </a:rPr>
              <a:t>B</a:t>
            </a:r>
          </a:p>
        </p:txBody>
      </p:sp>
      <p:sp>
        <p:nvSpPr>
          <p:cNvPr id="14" name="txt::opt1"/>
          <p:cNvSpPr txBox="1"/>
          <p:nvPr/>
        </p:nvSpPr>
        <p:spPr>
          <a:xfrm>
            <a:off x="6946239" y="2834640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Its resolution is too low - it cannot separate points that close together.</a:t>
            </a:r>
          </a:p>
        </p:txBody>
      </p:sp>
      <p:sp>
        <p:nvSpPr>
          <p:cNvPr id="15" name="card::opt2"/>
          <p:cNvSpPr/>
          <p:nvPr/>
        </p:nvSpPr>
        <p:spPr>
          <a:xfrm>
            <a:off x="566928" y="3730752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ll::opt2"/>
          <p:cNvSpPr/>
          <p:nvPr/>
        </p:nvSpPr>
        <p:spPr>
          <a:xfrm>
            <a:off x="749808" y="39227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B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F3F09"/>
                </a:solidFill>
                <a:latin typeface="Trebuchet MS"/>
              </a:rPr>
              <a:t>C</a:t>
            </a:r>
          </a:p>
        </p:txBody>
      </p:sp>
      <p:sp>
        <p:nvSpPr>
          <p:cNvPr id="17" name="txt::opt2"/>
          <p:cNvSpPr txBox="1"/>
          <p:nvPr/>
        </p:nvSpPr>
        <p:spPr>
          <a:xfrm>
            <a:off x="1280160" y="3822191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The image is not clear enough.</a:t>
            </a:r>
          </a:p>
        </p:txBody>
      </p:sp>
      <p:sp>
        <p:nvSpPr>
          <p:cNvPr id="18" name="card::opt3"/>
          <p:cNvSpPr/>
          <p:nvPr/>
        </p:nvSpPr>
        <p:spPr>
          <a:xfrm>
            <a:off x="6233007" y="3730752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ll::opt3"/>
          <p:cNvSpPr/>
          <p:nvPr/>
        </p:nvSpPr>
        <p:spPr>
          <a:xfrm>
            <a:off x="6415887" y="39227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BF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F3F09"/>
                </a:solidFill>
                <a:latin typeface="Trebuchet MS"/>
              </a:rPr>
              <a:t>D</a:t>
            </a:r>
          </a:p>
        </p:txBody>
      </p:sp>
      <p:sp>
        <p:nvSpPr>
          <p:cNvPr id="20" name="txt::opt3"/>
          <p:cNvSpPr txBox="1"/>
          <p:nvPr/>
        </p:nvSpPr>
        <p:spPr>
          <a:xfrm>
            <a:off x="6946239" y="3822191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The specimen is too thick.</a:t>
            </a:r>
          </a:p>
        </p:txBody>
      </p:sp>
      <p:sp>
        <p:nvSpPr>
          <p:cNvPr id="21" name="txt::conf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5C6570"/>
                </a:solidFill>
                <a:latin typeface="Trebuchet MS"/>
              </a:rPr>
              <a:t>Confidence: 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Red — reteach me   </a:t>
            </a:r>
            <a:r>
              <a:rPr sz="1200" b="1" i="0">
                <a:solidFill>
                  <a:srgbClr val="C28B0E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Amber — nearly   </a:t>
            </a:r>
            <a:r>
              <a:rPr sz="12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Green — secure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