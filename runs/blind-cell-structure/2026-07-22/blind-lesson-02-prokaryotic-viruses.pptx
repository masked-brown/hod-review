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F3D8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eco::bleed_ring"/>
          <p:cNvSpPr/>
          <p:nvPr/>
        </p:nvSpPr>
        <p:spPr>
          <a:xfrm>
            <a:off x="8321040" y="-1280160"/>
            <a:ext cx="5120640" cy="5120640"/>
          </a:xfrm>
          <a:prstGeom prst="ellipse">
            <a:avLst/>
          </a:prstGeom>
          <a:noFill/>
          <a:ln w="25400">
            <a:solidFill>
              <a:srgbClr val="272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eco::bleed_ring2"/>
          <p:cNvSpPr/>
          <p:nvPr/>
        </p:nvSpPr>
        <p:spPr>
          <a:xfrm>
            <a:off x="9464040" y="-137160"/>
            <a:ext cx="2834640" cy="2834640"/>
          </a:xfrm>
          <a:prstGeom prst="ellipse">
            <a:avLst/>
          </a:prstGeom>
          <a:noFill/>
          <a:ln w="19050">
            <a:solidFill>
              <a:srgbClr val="2726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pill::spec"/>
          <p:cNvSpPr/>
          <p:nvPr/>
        </p:nvSpPr>
        <p:spPr>
          <a:xfrm>
            <a:off x="566928" y="1417320"/>
            <a:ext cx="1965960" cy="384048"/>
          </a:xfrm>
          <a:prstGeom prst="roundRect">
            <a:avLst>
              <a:gd name="adj" fmla="val 50000"/>
            </a:avLst>
          </a:prstGeom>
          <a:noFill/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5" name="txt::title"/>
          <p:cNvSpPr txBox="1"/>
          <p:nvPr/>
        </p:nvSpPr>
        <p:spPr>
          <a:xfrm>
            <a:off x="566928" y="2148840"/>
            <a:ext cx="9692640" cy="24688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Trebuchet MS"/>
              </a:rPr>
              <a:t>Prokaryotic cells and viruses</a:t>
            </a:r>
          </a:p>
          <a:p>
            <a:pPr algn="l">
              <a:lnSpc>
                <a:spcPct val="105000"/>
              </a:lnSpc>
              <a:spcBef>
                <a:spcPts val="200"/>
              </a:spcBef>
              <a:spcAft>
                <a:spcPts val="0"/>
              </a:spcAft>
            </a:pPr>
            <a:r>
              <a:rPr sz="2000" b="0" i="0">
                <a:solidFill>
                  <a:srgbClr val="EAF1EF"/>
                </a:solidFill>
                <a:latin typeface="Calibri"/>
              </a:rPr>
              <a:t>Simpler cells, and the particles that are not cells at all</a:t>
            </a:r>
          </a:p>
        </p:txBody>
      </p:sp>
      <p:sp>
        <p:nvSpPr>
          <p:cNvPr id="6" name="txt::meta"/>
          <p:cNvSpPr txBox="1"/>
          <p:nvPr/>
        </p:nvSpPr>
        <p:spPr>
          <a:xfrm>
            <a:off x="566928" y="5394960"/>
            <a:ext cx="10058400" cy="9144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8E6E2"/>
                </a:solidFill>
                <a:latin typeface="Calibri"/>
              </a:rPr>
              <a:t>Year 12 Biology  -  Lesson 2 of 6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0" i="0">
                <a:solidFill>
                  <a:srgbClr val="D8E6E2"/>
                </a:solidFill>
                <a:latin typeface="Calibri"/>
              </a:rPr>
              <a:t>Class 12B  -  40 minutes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Lesson on a page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2</a:t>
            </a:r>
          </a:p>
        </p:txBody>
      </p:sp>
      <p:sp>
        <p:nvSpPr>
          <p:cNvPr id="6" name="card::staff"/>
          <p:cNvSpPr/>
          <p:nvPr/>
        </p:nvSpPr>
        <p:spPr>
          <a:xfrm>
            <a:off x="566928" y="1554480"/>
            <a:ext cx="5806440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stafftbl"/>
          <p:cNvSpPr txBox="1"/>
          <p:nvPr/>
        </p:nvSpPr>
        <p:spPr>
          <a:xfrm>
            <a:off x="841247" y="1810512"/>
            <a:ext cx="5257800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Teacher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Miss A. Brown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Class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12B (24 students)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Date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Wednesday, period 4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Unit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3.2 Cells  -  lesson 2 of 6</a:t>
            </a:r>
          </a:p>
          <a:p>
            <a:pPr>
              <a:lnSpc>
                <a:spcPct val="100000"/>
              </a:lnSpc>
              <a:spcAft>
                <a:spcPts val="900"/>
              </a:spcAft>
            </a:pPr>
            <a:r>
              <a:rPr sz="1250" b="1" i="0">
                <a:solidFill>
                  <a:srgbClr val="5C6570"/>
                </a:solidFill>
                <a:latin typeface="Trebuchet MS"/>
              </a:rPr>
              <a:t>Prior learning   </a:t>
            </a:r>
            <a:r>
              <a:rPr sz="1400" b="0" i="0">
                <a:solidFill>
                  <a:srgbClr val="23272E"/>
                </a:solidFill>
                <a:latin typeface="Calibri"/>
              </a:rPr>
              <a:t>Eukaryotic ultrastructure (last lesson)</a:t>
            </a:r>
          </a:p>
        </p:txBody>
      </p:sp>
      <p:sp>
        <p:nvSpPr>
          <p:cNvPr id="8" name="card::spec"/>
          <p:cNvSpPr/>
          <p:nvPr/>
        </p:nvSpPr>
        <p:spPr>
          <a:xfrm>
            <a:off x="6693407" y="1554480"/>
            <a:ext cx="4931359" cy="4297680"/>
          </a:xfrm>
          <a:prstGeom prst="roundRect">
            <a:avLst>
              <a:gd name="adj" fmla="val 5500"/>
            </a:avLst>
          </a:prstGeom>
          <a:solidFill>
            <a:srgbClr val="ECECF7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::specbody"/>
          <p:cNvSpPr txBox="1"/>
          <p:nvPr/>
        </p:nvSpPr>
        <p:spPr>
          <a:xfrm>
            <a:off x="6949440" y="1792224"/>
            <a:ext cx="4419295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7265C"/>
                </a:solidFill>
                <a:latin typeface="Trebuchet MS"/>
              </a:rPr>
              <a:t>What this lesson serves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3.2.1.2 Prokaryotic structure: simpler, smaller, no nucleus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Features in ALL vs SOME prokaryotes (the list rule)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700"/>
              </a:spcAft>
            </a:pPr>
            <a:r>
              <a:rPr sz="125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Viruses as acellular and non-living; universal features</a:t>
            </a:r>
          </a:p>
          <a:p>
            <a:pPr algn="l">
              <a:lnSpc>
                <a:spcPct val="105000"/>
              </a:lnSpc>
              <a:spcBef>
                <a:spcPts val="60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Reference: AQA A-level Biology 7402, section 3.2.1.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3D8F"/>
                </a:solidFill>
                <a:latin typeface="Trebuchet MS"/>
              </a:rPr>
              <a:t>RETRIEVAL · DO NOW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Do Now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3</a:t>
            </a:r>
          </a:p>
        </p:txBody>
      </p:sp>
      <p:sp>
        <p:nvSpPr>
          <p:cNvPr id="7" name="txt::donow-instr"/>
          <p:cNvSpPr txBox="1"/>
          <p:nvPr/>
        </p:nvSpPr>
        <p:spPr>
          <a:xfrm>
            <a:off x="566928" y="1527048"/>
            <a:ext cx="100584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1">
                <a:solidFill>
                  <a:srgbClr val="5C6570"/>
                </a:solidFill>
                <a:latin typeface="Calibri"/>
              </a:rPr>
              <a:t>Five minutes, silent, closed book.</a:t>
            </a:r>
          </a:p>
        </p:txBody>
      </p:sp>
      <p:sp>
        <p:nvSpPr>
          <p:cNvPr id="8" name="card::donow0"/>
          <p:cNvSpPr/>
          <p:nvPr/>
        </p:nvSpPr>
        <p:spPr>
          <a:xfrm>
            <a:off x="566928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pill::dn0"/>
          <p:cNvSpPr/>
          <p:nvPr/>
        </p:nvSpPr>
        <p:spPr>
          <a:xfrm>
            <a:off x="768096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Last lesson</a:t>
            </a:r>
          </a:p>
        </p:txBody>
      </p:sp>
      <p:sp>
        <p:nvSpPr>
          <p:cNvPr id="10" name="txt::donow0"/>
          <p:cNvSpPr txBox="1"/>
          <p:nvPr/>
        </p:nvSpPr>
        <p:spPr>
          <a:xfrm>
            <a:off x="822960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Name the site of aerobic respiration.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What are ribosomes made of?</a:t>
            </a:r>
          </a:p>
        </p:txBody>
      </p:sp>
      <p:sp>
        <p:nvSpPr>
          <p:cNvPr id="11" name="card::donow1"/>
          <p:cNvSpPr/>
          <p:nvPr/>
        </p:nvSpPr>
        <p:spPr>
          <a:xfrm>
            <a:off x="4359554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pill::dn1"/>
          <p:cNvSpPr/>
          <p:nvPr/>
        </p:nvSpPr>
        <p:spPr>
          <a:xfrm>
            <a:off x="4560722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Earlier this year</a:t>
            </a:r>
          </a:p>
        </p:txBody>
      </p:sp>
      <p:sp>
        <p:nvSpPr>
          <p:cNvPr id="13" name="txt::donow1"/>
          <p:cNvSpPr txBox="1"/>
          <p:nvPr/>
        </p:nvSpPr>
        <p:spPr>
          <a:xfrm>
            <a:off x="4615586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Define a monomer.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Name the bond in a polysaccharide.</a:t>
            </a:r>
          </a:p>
        </p:txBody>
      </p:sp>
      <p:sp>
        <p:nvSpPr>
          <p:cNvPr id="14" name="card::donow2"/>
          <p:cNvSpPr/>
          <p:nvPr/>
        </p:nvSpPr>
        <p:spPr>
          <a:xfrm>
            <a:off x="8152180" y="1783080"/>
            <a:ext cx="3472586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pill::dn2"/>
          <p:cNvSpPr/>
          <p:nvPr/>
        </p:nvSpPr>
        <p:spPr>
          <a:xfrm>
            <a:off x="8353348" y="2002536"/>
            <a:ext cx="3070250" cy="40233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Stretch</a:t>
            </a:r>
          </a:p>
        </p:txBody>
      </p:sp>
      <p:sp>
        <p:nvSpPr>
          <p:cNvPr id="16" name="txt::donow2"/>
          <p:cNvSpPr txBox="1"/>
          <p:nvPr/>
        </p:nvSpPr>
        <p:spPr>
          <a:xfrm>
            <a:off x="8408212" y="2569464"/>
            <a:ext cx="2960522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A bacterium has no nucleus.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Where is its DNA, and how is it arranged?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Learning objectives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4</a:t>
            </a:r>
          </a:p>
        </p:txBody>
      </p:sp>
      <p:sp>
        <p:nvSpPr>
          <p:cNvPr id="6" name="txt::objhdr1"/>
          <p:cNvSpPr txBox="1"/>
          <p:nvPr/>
        </p:nvSpPr>
        <p:spPr>
          <a:xfrm>
            <a:off x="2212848" y="1289304"/>
            <a:ext cx="603504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570"/>
                </a:solidFill>
                <a:latin typeface="Trebuchet MS"/>
              </a:rPr>
              <a:t>OBJECTIVE</a:t>
            </a:r>
          </a:p>
        </p:txBody>
      </p:sp>
      <p:sp>
        <p:nvSpPr>
          <p:cNvPr id="7" name="txt::objhdr2"/>
          <p:cNvSpPr txBox="1"/>
          <p:nvPr/>
        </p:nvSpPr>
        <p:spPr>
          <a:xfrm>
            <a:off x="8247888" y="1289304"/>
            <a:ext cx="3376879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5C6570"/>
                </a:solidFill>
                <a:latin typeface="Trebuchet MS"/>
              </a:rPr>
              <a:t>HOW IT IS ASSESSED</a:t>
            </a:r>
          </a:p>
        </p:txBody>
      </p:sp>
      <p:sp>
        <p:nvSpPr>
          <p:cNvPr id="8" name="pill::tier0"/>
          <p:cNvSpPr/>
          <p:nvPr/>
        </p:nvSpPr>
        <p:spPr>
          <a:xfrm>
            <a:off x="566928" y="17465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ALL</a:t>
            </a:r>
          </a:p>
        </p:txBody>
      </p:sp>
      <p:sp>
        <p:nvSpPr>
          <p:cNvPr id="9" name="card::obj0"/>
          <p:cNvSpPr/>
          <p:nvPr/>
        </p:nvSpPr>
        <p:spPr>
          <a:xfrm>
            <a:off x="2212848" y="16002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::obj0"/>
          <p:cNvSpPr txBox="1"/>
          <p:nvPr/>
        </p:nvSpPr>
        <p:spPr>
          <a:xfrm>
            <a:off x="2395728" y="17282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State the features found in all prokaryotic cells.</a:t>
            </a:r>
          </a:p>
        </p:txBody>
      </p:sp>
      <p:sp>
        <p:nvSpPr>
          <p:cNvPr id="11" name="card::assess0"/>
          <p:cNvSpPr/>
          <p:nvPr/>
        </p:nvSpPr>
        <p:spPr>
          <a:xfrm>
            <a:off x="8247888" y="16002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ECECF7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::assess0"/>
          <p:cNvSpPr txBox="1"/>
          <p:nvPr/>
        </p:nvSpPr>
        <p:spPr>
          <a:xfrm>
            <a:off x="8430767" y="17282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265C"/>
                </a:solidFill>
                <a:latin typeface="Calibri"/>
              </a:rPr>
              <a:t>1-mark recall (AO1)</a:t>
            </a:r>
          </a:p>
        </p:txBody>
      </p:sp>
      <p:sp>
        <p:nvSpPr>
          <p:cNvPr id="13" name="pill::tier1"/>
          <p:cNvSpPr/>
          <p:nvPr/>
        </p:nvSpPr>
        <p:spPr>
          <a:xfrm>
            <a:off x="566928" y="31181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MOST</a:t>
            </a:r>
          </a:p>
        </p:txBody>
      </p:sp>
      <p:sp>
        <p:nvSpPr>
          <p:cNvPr id="14" name="card::obj1"/>
          <p:cNvSpPr/>
          <p:nvPr/>
        </p:nvSpPr>
        <p:spPr>
          <a:xfrm>
            <a:off x="2212848" y="29718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::obj1"/>
          <p:cNvSpPr txBox="1"/>
          <p:nvPr/>
        </p:nvSpPr>
        <p:spPr>
          <a:xfrm>
            <a:off x="2395728" y="30998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Explain why viruses are described as acellular and as non-living.</a:t>
            </a:r>
          </a:p>
        </p:txBody>
      </p:sp>
      <p:sp>
        <p:nvSpPr>
          <p:cNvPr id="16" name="card::assess1"/>
          <p:cNvSpPr/>
          <p:nvPr/>
        </p:nvSpPr>
        <p:spPr>
          <a:xfrm>
            <a:off x="8247888" y="29718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ECECF7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xt::assess1"/>
          <p:cNvSpPr txBox="1"/>
          <p:nvPr/>
        </p:nvSpPr>
        <p:spPr>
          <a:xfrm>
            <a:off x="8430767" y="30998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265C"/>
                </a:solidFill>
                <a:latin typeface="Calibri"/>
              </a:rPr>
              <a:t>2-mark Explain (AO1)</a:t>
            </a:r>
          </a:p>
        </p:txBody>
      </p:sp>
      <p:sp>
        <p:nvSpPr>
          <p:cNvPr id="18" name="pill::tier2"/>
          <p:cNvSpPr/>
          <p:nvPr/>
        </p:nvSpPr>
        <p:spPr>
          <a:xfrm>
            <a:off x="566928" y="4489704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Trebuchet MS"/>
              </a:rPr>
              <a:t>SOME</a:t>
            </a:r>
          </a:p>
        </p:txBody>
      </p:sp>
      <p:sp>
        <p:nvSpPr>
          <p:cNvPr id="19" name="card::obj2"/>
          <p:cNvSpPr/>
          <p:nvPr/>
        </p:nvSpPr>
        <p:spPr>
          <a:xfrm>
            <a:off x="2212848" y="4343400"/>
            <a:ext cx="6035040" cy="120700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xt::obj2"/>
          <p:cNvSpPr txBox="1"/>
          <p:nvPr/>
        </p:nvSpPr>
        <p:spPr>
          <a:xfrm>
            <a:off x="2395728" y="4471416"/>
            <a:ext cx="566927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23272E"/>
                </a:solidFill>
                <a:latin typeface="Calibri"/>
              </a:rPr>
              <a:t>Explain why antibiotics have no effect on viruses.</a:t>
            </a:r>
          </a:p>
        </p:txBody>
      </p:sp>
      <p:sp>
        <p:nvSpPr>
          <p:cNvPr id="21" name="card::assess2"/>
          <p:cNvSpPr/>
          <p:nvPr/>
        </p:nvSpPr>
        <p:spPr>
          <a:xfrm>
            <a:off x="8247888" y="4343400"/>
            <a:ext cx="3376879" cy="1207008"/>
          </a:xfrm>
          <a:prstGeom prst="roundRect">
            <a:avLst>
              <a:gd name="adj" fmla="val 5500"/>
            </a:avLst>
          </a:prstGeom>
          <a:solidFill>
            <a:srgbClr val="ECECF7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xt::assess2"/>
          <p:cNvSpPr txBox="1"/>
          <p:nvPr/>
        </p:nvSpPr>
        <p:spPr>
          <a:xfrm>
            <a:off x="8430767" y="4471416"/>
            <a:ext cx="3011119" cy="950976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27265C"/>
                </a:solidFill>
                <a:latin typeface="Calibri"/>
              </a:rPr>
              <a:t>1-mark Give (AO1)</a:t>
            </a:r>
          </a:p>
        </p:txBody>
      </p:sp>
      <p:sp>
        <p:nvSpPr>
          <p:cNvPr id="23" name="txt::objnote"/>
          <p:cNvSpPr txBox="1"/>
          <p:nvPr/>
        </p:nvSpPr>
        <p:spPr>
          <a:xfrm>
            <a:off x="566928" y="5696712"/>
            <a:ext cx="10515600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The list rule decides the mark before the content does - be exact about ALL vs SOME.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3D8F"/>
                </a:solidFill>
                <a:latin typeface="Trebuchet MS"/>
              </a:rPr>
              <a:t>TIER-3 VOCABULARY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Key words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5</a:t>
            </a:r>
          </a:p>
        </p:txBody>
      </p:sp>
      <p:sp>
        <p:nvSpPr>
          <p:cNvPr id="7" name="card::kw0"/>
          <p:cNvSpPr/>
          <p:nvPr/>
        </p:nvSpPr>
        <p:spPr>
          <a:xfrm>
            <a:off x="566928" y="1783080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::kw0"/>
          <p:cNvSpPr txBox="1"/>
          <p:nvPr/>
        </p:nvSpPr>
        <p:spPr>
          <a:xfrm>
            <a:off x="786384" y="1901952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7265C"/>
                </a:solidFill>
                <a:latin typeface="Trebuchet MS"/>
              </a:rPr>
              <a:t>Prokaryote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A cell with no nucleus and no membrane-bound organelles.</a:t>
            </a:r>
          </a:p>
        </p:txBody>
      </p:sp>
      <p:sp>
        <p:nvSpPr>
          <p:cNvPr id="9" name="card::kw1"/>
          <p:cNvSpPr/>
          <p:nvPr/>
        </p:nvSpPr>
        <p:spPr>
          <a:xfrm>
            <a:off x="6255867" y="1783080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xt::kw1"/>
          <p:cNvSpPr txBox="1"/>
          <p:nvPr/>
        </p:nvSpPr>
        <p:spPr>
          <a:xfrm>
            <a:off x="6475323" y="1901952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7265C"/>
                </a:solidFill>
                <a:latin typeface="Trebuchet MS"/>
              </a:rPr>
              <a:t>Nucleoid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The region holding a prokaryote's circular DNA.</a:t>
            </a:r>
          </a:p>
        </p:txBody>
      </p:sp>
      <p:sp>
        <p:nvSpPr>
          <p:cNvPr id="11" name="card::kw2"/>
          <p:cNvSpPr/>
          <p:nvPr/>
        </p:nvSpPr>
        <p:spPr>
          <a:xfrm>
            <a:off x="566928" y="2935224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xt::kw2"/>
          <p:cNvSpPr txBox="1"/>
          <p:nvPr/>
        </p:nvSpPr>
        <p:spPr>
          <a:xfrm>
            <a:off x="786384" y="3054096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7265C"/>
                </a:solidFill>
                <a:latin typeface="Trebuchet MS"/>
              </a:rPr>
              <a:t>Murein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The polymer (peptidoglycan) of a bacterial cell wall.</a:t>
            </a:r>
          </a:p>
        </p:txBody>
      </p:sp>
      <p:sp>
        <p:nvSpPr>
          <p:cNvPr id="13" name="card::kw3"/>
          <p:cNvSpPr/>
          <p:nvPr/>
        </p:nvSpPr>
        <p:spPr>
          <a:xfrm>
            <a:off x="6255867" y="2935224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xt::kw3"/>
          <p:cNvSpPr txBox="1"/>
          <p:nvPr/>
        </p:nvSpPr>
        <p:spPr>
          <a:xfrm>
            <a:off x="6475323" y="3054096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7265C"/>
                </a:solidFill>
                <a:latin typeface="Trebuchet MS"/>
              </a:rPr>
              <a:t>Plasmid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A small loop of extra DNA in some prokaryotes.</a:t>
            </a:r>
          </a:p>
        </p:txBody>
      </p:sp>
      <p:sp>
        <p:nvSpPr>
          <p:cNvPr id="15" name="card::kw4"/>
          <p:cNvSpPr/>
          <p:nvPr/>
        </p:nvSpPr>
        <p:spPr>
          <a:xfrm>
            <a:off x="566928" y="4087368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xt::kw4"/>
          <p:cNvSpPr txBox="1"/>
          <p:nvPr/>
        </p:nvSpPr>
        <p:spPr>
          <a:xfrm>
            <a:off x="786384" y="4206240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7265C"/>
                </a:solidFill>
                <a:latin typeface="Trebuchet MS"/>
              </a:rPr>
              <a:t>Capsid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The protein coat around a virus.</a:t>
            </a:r>
          </a:p>
        </p:txBody>
      </p:sp>
      <p:sp>
        <p:nvSpPr>
          <p:cNvPr id="17" name="card::kw5"/>
          <p:cNvSpPr/>
          <p:nvPr/>
        </p:nvSpPr>
        <p:spPr>
          <a:xfrm>
            <a:off x="6255867" y="4087368"/>
            <a:ext cx="5368899" cy="93268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xt::kw5"/>
          <p:cNvSpPr txBox="1"/>
          <p:nvPr/>
        </p:nvSpPr>
        <p:spPr>
          <a:xfrm>
            <a:off x="6475323" y="4206240"/>
            <a:ext cx="4929987" cy="713232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350" b="1" i="0">
                <a:solidFill>
                  <a:srgbClr val="27265C"/>
                </a:solidFill>
                <a:latin typeface="Trebuchet MS"/>
              </a:rPr>
              <a:t>Acellular</a:t>
            </a:r>
          </a:p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23272E"/>
                </a:solidFill>
                <a:latin typeface="Calibri"/>
              </a:rPr>
              <a:t>Not made of cells.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Prokaryotic cell structure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6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3272E"/>
                </a:solidFill>
                <a:latin typeface="Calibri"/>
              </a:rPr>
              <a:t>Prokaryotic cells are smaller and simpler than eukaryotic cells.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No nucleus: the DNA is circular and not associated with histones, held in the nucleoid.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No membrane-bound organelles.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Smaller (70S) ribosomes.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A cell wall made of murein (peptidoglycan).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Features: all prokaryotes vs some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7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6400800" cy="379476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5815584" cy="3337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1000"/>
              </a:spcAft>
            </a:pPr>
            <a:r>
              <a:rPr sz="1550" b="0" i="0">
                <a:solidFill>
                  <a:srgbClr val="23272E"/>
                </a:solidFill>
                <a:latin typeface="Calibri"/>
              </a:rPr>
              <a:t>In ALL prokaryotes: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Murein (peptidoglycan) cell wall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Cell-surface membrane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70S ribosomes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Circular DNA, not associated with histones</a:t>
            </a:r>
          </a:p>
        </p:txBody>
      </p:sp>
      <p:sp>
        <p:nvSpPr>
          <p:cNvPr id="8" name="card::side"/>
          <p:cNvSpPr/>
          <p:nvPr/>
        </p:nvSpPr>
        <p:spPr>
          <a:xfrm>
            <a:off x="7287768" y="1600200"/>
            <a:ext cx="4336999" cy="3794760"/>
          </a:xfrm>
          <a:prstGeom prst="roundRect">
            <a:avLst>
              <a:gd name="adj" fmla="val 5500"/>
            </a:avLst>
          </a:prstGeom>
          <a:solidFill>
            <a:srgbClr val="ECECF7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xt::side"/>
          <p:cNvSpPr txBox="1"/>
          <p:nvPr/>
        </p:nvSpPr>
        <p:spPr>
          <a:xfrm>
            <a:off x="7525512" y="1819656"/>
            <a:ext cx="3861511" cy="335584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27265C"/>
                </a:solidFill>
                <a:latin typeface="Trebuchet MS"/>
              </a:rPr>
              <a:t>In SOME only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Capsule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Plasmids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Flagella</a:t>
            </a:r>
          </a:p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1" i="0">
                <a:solidFill>
                  <a:srgbClr val="3F3D8F"/>
                </a:solidFill>
                <a:latin typeface="Calibri"/>
              </a:rPr>
              <a:t>•  </a:t>
            </a:r>
            <a:r>
              <a:rPr sz="1250" b="0" i="0">
                <a:solidFill>
                  <a:srgbClr val="23272E"/>
                </a:solidFill>
                <a:latin typeface="Calibri"/>
              </a:rPr>
              <a:t>Pili</a:t>
            </a:r>
          </a:p>
        </p:txBody>
      </p:sp>
      <p:sp>
        <p:nvSpPr>
          <p:cNvPr id="10" name="card::callout"/>
          <p:cNvSpPr/>
          <p:nvPr/>
        </p:nvSpPr>
        <p:spPr>
          <a:xfrm>
            <a:off x="566928" y="5596128"/>
            <a:ext cx="11057839" cy="621792"/>
          </a:xfrm>
          <a:prstGeom prst="roundRect">
            <a:avLst>
              <a:gd name="adj" fmla="val 5500"/>
            </a:avLst>
          </a:prstGeom>
          <a:solidFill>
            <a:srgbClr val="3F3D8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xt::callout"/>
          <p:cNvSpPr txBox="1"/>
          <p:nvPr/>
        </p:nvSpPr>
        <p:spPr>
          <a:xfrm>
            <a:off x="841247" y="5650992"/>
            <a:ext cx="10509199" cy="512064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Exam trap: adding one 'some only' feature to an 'all prokaryotes' answer loses the whole mark.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Cell walls across the kingdoms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8</a:t>
            </a:r>
          </a:p>
        </p:txBody>
      </p:sp>
      <p:graphicFrame>
        <p:nvGraphicFramePr>
          <p:cNvPr id="6" name="tbl::main"/>
          <p:cNvGraphicFramePr>
            <a:graphicFrameLocks noGrp="1"/>
          </p:cNvGraphicFramePr>
          <p:nvPr/>
        </p:nvGraphicFramePr>
        <p:xfrm>
          <a:off x="566928" y="1783080"/>
          <a:ext cx="11057838" cy="24048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44292"/>
                <a:gridCol w="6413546"/>
              </a:tblGrid>
              <a:tr h="6012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Trebuchet MS"/>
                        </a:rPr>
                        <a:t>Group</a:t>
                      </a:r>
                    </a:p>
                  </a:txBody>
                  <a:tcPr anchor="ctr" marL="128016" marR="91440" marT="36576" marB="36576">
                    <a:solidFill>
                      <a:srgbClr val="3F3D8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50" b="1" i="0">
                          <a:solidFill>
                            <a:srgbClr val="FFFFFF"/>
                          </a:solidFill>
                          <a:latin typeface="Trebuchet MS"/>
                        </a:rPr>
                        <a:t>Cell wall polymer</a:t>
                      </a:r>
                    </a:p>
                  </a:txBody>
                  <a:tcPr anchor="ctr" marL="128016" marR="91440" marT="36576" marB="36576">
                    <a:solidFill>
                      <a:srgbClr val="3F3D8F"/>
                    </a:solidFill>
                  </a:tcPr>
                </a:tc>
              </a:tr>
              <a:tr h="6012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3272E"/>
                          </a:solidFill>
                          <a:latin typeface="Calibri"/>
                        </a:rPr>
                        <a:t>Plant cells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3272E"/>
                          </a:solidFill>
                          <a:latin typeface="Calibri"/>
                        </a:rPr>
                        <a:t>Cellulose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  <a:tr h="6012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3272E"/>
                          </a:solidFill>
                          <a:latin typeface="Calibri"/>
                        </a:rPr>
                        <a:t>Bacterial cells</a:t>
                      </a:r>
                    </a:p>
                  </a:txBody>
                  <a:tcPr anchor="ctr" marL="128016" marR="91440" marT="36576" marB="36576">
                    <a:solidFill>
                      <a:srgbClr val="ECECF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3272E"/>
                          </a:solidFill>
                          <a:latin typeface="Calibri"/>
                        </a:rPr>
                        <a:t>Chitin</a:t>
                      </a:r>
                    </a:p>
                  </a:txBody>
                  <a:tcPr anchor="ctr" marL="128016" marR="91440" marT="36576" marB="36576">
                    <a:solidFill>
                      <a:srgbClr val="ECECF7"/>
                    </a:solidFill>
                  </a:tcPr>
                </a:tc>
              </a:tr>
              <a:tr h="601218"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1" i="0">
                          <a:solidFill>
                            <a:srgbClr val="23272E"/>
                          </a:solidFill>
                          <a:latin typeface="Calibri"/>
                        </a:rPr>
                        <a:t>Fungal cells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200" b="0" i="0">
                          <a:solidFill>
                            <a:srgbClr val="23272E"/>
                          </a:solidFill>
                          <a:latin typeface="Calibri"/>
                        </a:rPr>
                        <a:t>Murein</a:t>
                      </a:r>
                    </a:p>
                  </a:txBody>
                  <a:tcPr anchor="ctr" marL="128016" marR="91440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xt::tblcap"/>
          <p:cNvSpPr txBox="1"/>
          <p:nvPr/>
        </p:nvSpPr>
        <p:spPr>
          <a:xfrm>
            <a:off x="566928" y="4334256"/>
            <a:ext cx="11057839" cy="45720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C6570"/>
                </a:solidFill>
                <a:latin typeface="Calibri"/>
              </a:rPr>
              <a:t>Learn the polymer for each group - they are frequently confused.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Inside a prokaryotic cell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9</a:t>
            </a:r>
          </a:p>
        </p:txBody>
      </p:sp>
      <p:sp>
        <p:nvSpPr>
          <p:cNvPr id="6" name="card::diagram"/>
          <p:cNvSpPr/>
          <p:nvPr/>
        </p:nvSpPr>
        <p:spPr>
          <a:xfrm>
            <a:off x="566928" y="1645920"/>
            <a:ext cx="753739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iag::cell"/>
          <p:cNvSpPr/>
          <p:nvPr/>
        </p:nvSpPr>
        <p:spPr>
          <a:xfrm>
            <a:off x="932688" y="2011680"/>
            <a:ext cx="6805879" cy="3566160"/>
          </a:xfrm>
          <a:prstGeom prst="roundRect">
            <a:avLst>
              <a:gd name="adj" fmla="val 18000"/>
            </a:avLst>
          </a:prstGeom>
          <a:solidFill>
            <a:srgbClr val="ECECF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8" name="diag::wall"/>
          <p:cNvSpPr/>
          <p:nvPr/>
        </p:nvSpPr>
        <p:spPr>
          <a:xfrm>
            <a:off x="1252728" y="2331720"/>
            <a:ext cx="6165799" cy="594360"/>
          </a:xfrm>
          <a:prstGeom prst="roundRect">
            <a:avLst>
              <a:gd name="adj" fmla="val 18000"/>
            </a:avLst>
          </a:prstGeom>
          <a:solidFill>
            <a:srgbClr val="3F3D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Murein cell wall</a:t>
            </a:r>
          </a:p>
        </p:txBody>
      </p:sp>
      <p:sp>
        <p:nvSpPr>
          <p:cNvPr id="9" name="diag::dna"/>
          <p:cNvSpPr/>
          <p:nvPr/>
        </p:nvSpPr>
        <p:spPr>
          <a:xfrm>
            <a:off x="3101187" y="3474720"/>
            <a:ext cx="2468880" cy="822960"/>
          </a:xfrm>
          <a:prstGeom prst="roundRect">
            <a:avLst>
              <a:gd name="adj" fmla="val 18000"/>
            </a:avLst>
          </a:prstGeom>
          <a:solidFill>
            <a:srgbClr val="2726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Circular DNA (nucleoid)</a:t>
            </a:r>
          </a:p>
        </p:txBody>
      </p:sp>
      <p:sp>
        <p:nvSpPr>
          <p:cNvPr id="10" name="diag::ribo"/>
          <p:cNvSpPr/>
          <p:nvPr/>
        </p:nvSpPr>
        <p:spPr>
          <a:xfrm>
            <a:off x="1481328" y="4572000"/>
            <a:ext cx="1828800" cy="594360"/>
          </a:xfrm>
          <a:prstGeom prst="roundRect">
            <a:avLst>
              <a:gd name="adj" fmla="val 18000"/>
            </a:avLst>
          </a:prstGeom>
          <a:solidFill>
            <a:srgbClr val="3F3D8F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70S ribosomes</a:t>
            </a:r>
          </a:p>
        </p:txBody>
      </p:sp>
      <p:sp>
        <p:nvSpPr>
          <p:cNvPr id="11" name="diag::plasmid"/>
          <p:cNvSpPr/>
          <p:nvPr/>
        </p:nvSpPr>
        <p:spPr>
          <a:xfrm>
            <a:off x="5269687" y="4572000"/>
            <a:ext cx="2103120" cy="594360"/>
          </a:xfrm>
          <a:prstGeom prst="roundRect">
            <a:avLst>
              <a:gd name="adj" fmla="val 18000"/>
            </a:avLst>
          </a:prstGeom>
          <a:solidFill>
            <a:srgbClr val="27265C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>
              <a:lnSpc>
                <a:spcPct val="98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Trebuchet MS"/>
              </a:rPr>
              <a:t>Plasmid (some only)</a:t>
            </a:r>
          </a:p>
        </p:txBody>
      </p:sp>
      <p:sp>
        <p:nvSpPr>
          <p:cNvPr id="12" name="card::legend"/>
          <p:cNvSpPr/>
          <p:nvPr/>
        </p:nvSpPr>
        <p:spPr>
          <a:xfrm>
            <a:off x="8424367" y="1645920"/>
            <a:ext cx="3200400" cy="1755648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xt::legendttl"/>
          <p:cNvSpPr txBox="1"/>
          <p:nvPr/>
        </p:nvSpPr>
        <p:spPr>
          <a:xfrm>
            <a:off x="8607247" y="1764792"/>
            <a:ext cx="283464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27265C"/>
                </a:solidFill>
                <a:latin typeface="Trebuchet MS"/>
              </a:rPr>
              <a:t>Key</a:t>
            </a:r>
          </a:p>
        </p:txBody>
      </p:sp>
      <p:sp>
        <p:nvSpPr>
          <p:cNvPr id="14" name="deco::swatch"/>
          <p:cNvSpPr/>
          <p:nvPr/>
        </p:nvSpPr>
        <p:spPr>
          <a:xfrm>
            <a:off x="8625535" y="2157984"/>
            <a:ext cx="219456" cy="219456"/>
          </a:xfrm>
          <a:prstGeom prst="rect">
            <a:avLst/>
          </a:prstGeom>
          <a:solidFill>
            <a:srgbClr val="3F3D8F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xt::legend0"/>
          <p:cNvSpPr txBox="1"/>
          <p:nvPr/>
        </p:nvSpPr>
        <p:spPr>
          <a:xfrm>
            <a:off x="8936431" y="2084832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Cell wall / ribosomes</a:t>
            </a:r>
          </a:p>
        </p:txBody>
      </p:sp>
      <p:sp>
        <p:nvSpPr>
          <p:cNvPr id="16" name="deco::swatch"/>
          <p:cNvSpPr/>
          <p:nvPr/>
        </p:nvSpPr>
        <p:spPr>
          <a:xfrm>
            <a:off x="8625535" y="2542032"/>
            <a:ext cx="219456" cy="219456"/>
          </a:xfrm>
          <a:prstGeom prst="rect">
            <a:avLst/>
          </a:prstGeom>
          <a:solidFill>
            <a:srgbClr val="27265C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xt::legend1"/>
          <p:cNvSpPr txBox="1"/>
          <p:nvPr/>
        </p:nvSpPr>
        <p:spPr>
          <a:xfrm>
            <a:off x="8936431" y="2468880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DNA / plasmid</a:t>
            </a:r>
          </a:p>
        </p:txBody>
      </p:sp>
      <p:sp>
        <p:nvSpPr>
          <p:cNvPr id="18" name="deco::swatch"/>
          <p:cNvSpPr/>
          <p:nvPr/>
        </p:nvSpPr>
        <p:spPr>
          <a:xfrm>
            <a:off x="8625535" y="2926080"/>
            <a:ext cx="219456" cy="219456"/>
          </a:xfrm>
          <a:prstGeom prst="rect">
            <a:avLst/>
          </a:prstGeom>
          <a:solidFill>
            <a:srgbClr val="ECECF7"/>
          </a:solidFill>
          <a:ln w="9525">
            <a:solidFill>
              <a:srgbClr val="D8DD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xt::legend2"/>
          <p:cNvSpPr txBox="1"/>
          <p:nvPr/>
        </p:nvSpPr>
        <p:spPr>
          <a:xfrm>
            <a:off x="8936431" y="2852928"/>
            <a:ext cx="2523744" cy="38404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23272E"/>
                </a:solidFill>
                <a:latin typeface="Calibri"/>
              </a:rPr>
              <a:t>Cytoplasm</a:t>
            </a:r>
          </a:p>
        </p:txBody>
      </p:sp>
      <p:sp>
        <p:nvSpPr>
          <p:cNvPr id="20" name="txt::diagcap"/>
          <p:cNvSpPr txBox="1"/>
          <p:nvPr/>
        </p:nvSpPr>
        <p:spPr>
          <a:xfrm>
            <a:off x="8424367" y="4754880"/>
            <a:ext cx="3200400" cy="10972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5C6570"/>
                </a:solidFill>
                <a:latin typeface="Calibri"/>
              </a:rPr>
              <a:t>Schematic; not to scale. Capsule, flagella and pili occur in some prokaryotes only.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Viruses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10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Viruses are acellular and non-living because they have no cytoplasm and cannot replicate outside a host cell.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In all viruses: genetic material, a capsid (protein coat), and attachment proteins.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In some only: a lipid envelope, reverse transcriptase, or tail fibres.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title"/>
          <p:cNvSpPr txBox="1"/>
          <p:nvPr/>
        </p:nvSpPr>
        <p:spPr>
          <a:xfrm>
            <a:off x="566928" y="420624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Why antibiotics do not work on viruses</a:t>
            </a:r>
          </a:p>
        </p:txBody>
      </p:sp>
      <p:sp>
        <p:nvSpPr>
          <p:cNvPr id="4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5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11</a:t>
            </a:r>
          </a:p>
        </p:txBody>
      </p:sp>
      <p:sp>
        <p:nvSpPr>
          <p:cNvPr id="6" name="card::main"/>
          <p:cNvSpPr/>
          <p:nvPr/>
        </p:nvSpPr>
        <p:spPr>
          <a:xfrm>
            <a:off x="566928" y="1600200"/>
            <a:ext cx="11057839" cy="4297680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xt::main"/>
          <p:cNvSpPr txBox="1"/>
          <p:nvPr/>
        </p:nvSpPr>
        <p:spPr>
          <a:xfrm>
            <a:off x="859536" y="1837943"/>
            <a:ext cx="10472623" cy="384048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Antibiotics target bacterial structures - the murein wall, 70S ribosomes, and metabolic enzymes.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Viruses have none of these structures.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900"/>
              </a:spcAft>
            </a:pPr>
            <a:r>
              <a:rPr sz="1500" b="1" i="0">
                <a:solidFill>
                  <a:srgbClr val="3F3D8F"/>
                </a:solidFill>
                <a:latin typeface="Calibri"/>
              </a:rPr>
              <a:t>▪  </a:t>
            </a:r>
            <a:r>
              <a:rPr sz="1500" b="0" i="0">
                <a:solidFill>
                  <a:srgbClr val="23272E"/>
                </a:solidFill>
                <a:latin typeface="Calibri"/>
              </a:rPr>
              <a:t>So there is nothing for the antibiotic to act 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3D8F"/>
                </a:solidFill>
                <a:latin typeface="Trebuchet MS"/>
              </a:rPr>
              <a:t>WORKED EXAMPLE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A 'features of all viruses' question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12</a:t>
            </a:r>
          </a:p>
        </p:txBody>
      </p:sp>
      <p:sp>
        <p:nvSpPr>
          <p:cNvPr id="7" name="card::we0"/>
          <p:cNvSpPr/>
          <p:nvPr/>
        </p:nvSpPr>
        <p:spPr>
          <a:xfrm>
            <a:off x="566928" y="1645920"/>
            <a:ext cx="5368899" cy="3977639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ill::we0"/>
          <p:cNvSpPr/>
          <p:nvPr/>
        </p:nvSpPr>
        <p:spPr>
          <a:xfrm>
            <a:off x="786384" y="1865376"/>
            <a:ext cx="4929987" cy="40233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I do  ·  I model it</a:t>
            </a:r>
          </a:p>
        </p:txBody>
      </p:sp>
      <p:sp>
        <p:nvSpPr>
          <p:cNvPr id="9" name="txt::we0"/>
          <p:cNvSpPr txBox="1"/>
          <p:nvPr/>
        </p:nvSpPr>
        <p:spPr>
          <a:xfrm>
            <a:off x="841247" y="2432304"/>
            <a:ext cx="4820259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Question: give three features found in all viruses.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All viruses have: genetic material, a capsid, and attachment proteins.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I do NOT add lipid envelope or tail fibres - those are 'some only'.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Adding one 'some only' feature would lose the mark (the list rule).</a:t>
            </a:r>
          </a:p>
        </p:txBody>
      </p:sp>
      <p:sp>
        <p:nvSpPr>
          <p:cNvPr id="10" name="card::we1"/>
          <p:cNvSpPr/>
          <p:nvPr/>
        </p:nvSpPr>
        <p:spPr>
          <a:xfrm>
            <a:off x="6255867" y="1645920"/>
            <a:ext cx="5368899" cy="3977639"/>
          </a:xfrm>
          <a:prstGeom prst="roundRect">
            <a:avLst>
              <a:gd name="adj" fmla="val 5500"/>
            </a:avLst>
          </a:prstGeom>
          <a:solidFill>
            <a:srgbClr val="ECECF7"/>
          </a:solidFill>
          <a:ln w="9525">
            <a:solidFill>
              <a:srgbClr val="D8DDE3"/>
            </a:solidFill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ill::we1"/>
          <p:cNvSpPr/>
          <p:nvPr/>
        </p:nvSpPr>
        <p:spPr>
          <a:xfrm>
            <a:off x="6475323" y="1865376"/>
            <a:ext cx="4929987" cy="40233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Trebuchet MS"/>
              </a:rPr>
              <a:t>We do  ·  we try it together</a:t>
            </a:r>
          </a:p>
        </p:txBody>
      </p:sp>
      <p:sp>
        <p:nvSpPr>
          <p:cNvPr id="12" name="txt::we1"/>
          <p:cNvSpPr txBox="1"/>
          <p:nvPr/>
        </p:nvSpPr>
        <p:spPr>
          <a:xfrm>
            <a:off x="6530187" y="2432304"/>
            <a:ext cx="4820259" cy="30175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Now: give the features found in all prokaryotic cells.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Sort each feature into ALL or SOME before you write it.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900"/>
              </a:spcAft>
            </a:pPr>
            <a:r>
              <a:rPr sz="1300" b="1" i="0">
                <a:solidFill>
                  <a:srgbClr val="3F3D8F"/>
                </a:solidFill>
                <a:latin typeface="Calibri"/>
              </a:rPr>
              <a:t>›  </a:t>
            </a:r>
            <a:r>
              <a:rPr sz="1300" b="0" i="0">
                <a:solidFill>
                  <a:srgbClr val="23272E"/>
                </a:solidFill>
                <a:latin typeface="Calibri"/>
              </a:rPr>
              <a:t>We build the safe list together.</a:t>
            </a:r>
          </a:p>
        </p:txBody>
      </p:sp>
      <p:sp>
        <p:nvSpPr>
          <p:cNvPr id="13" name="txt::wenote"/>
          <p:cNvSpPr txBox="1"/>
          <p:nvPr/>
        </p:nvSpPr>
        <p:spPr>
          <a:xfrm>
            <a:off x="566928" y="5769864"/>
            <a:ext cx="11057839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5C6570"/>
                </a:solidFill>
                <a:latin typeface="Calibri"/>
              </a:rPr>
              <a:t>The list rule: one non-universal item collapses the whole answer to zero.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EC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pill::spec"/>
          <p:cNvSpPr/>
          <p:nvPr/>
        </p:nvSpPr>
        <p:spPr>
          <a:xfrm>
            <a:off x="10294315" y="420624"/>
            <a:ext cx="1330452" cy="310896"/>
          </a:xfrm>
          <a:prstGeom prst="roundRect">
            <a:avLst>
              <a:gd name="adj" fmla="val 50000"/>
            </a:avLst>
          </a:prstGeom>
          <a:solidFill>
            <a:srgbClr val="3F3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Trebuchet MS"/>
              </a:rPr>
              <a:t>AQA 3.2.1.2</a:t>
            </a:r>
          </a:p>
        </p:txBody>
      </p:sp>
      <p:sp>
        <p:nvSpPr>
          <p:cNvPr id="3" name="txt::kicker"/>
          <p:cNvSpPr txBox="1"/>
          <p:nvPr/>
        </p:nvSpPr>
        <p:spPr>
          <a:xfrm>
            <a:off x="566928" y="420624"/>
            <a:ext cx="8229600" cy="292608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3F3D8F"/>
                </a:solidFill>
                <a:latin typeface="Trebuchet MS"/>
              </a:rPr>
              <a:t>PLENARY · HINGE QUESTION</a:t>
            </a:r>
          </a:p>
        </p:txBody>
      </p:sp>
      <p:sp>
        <p:nvSpPr>
          <p:cNvPr id="4" name="txt::title"/>
          <p:cNvSpPr txBox="1"/>
          <p:nvPr/>
        </p:nvSpPr>
        <p:spPr>
          <a:xfrm>
            <a:off x="566928" y="749808"/>
            <a:ext cx="9320479" cy="7772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27265C"/>
                </a:solidFill>
                <a:latin typeface="Trebuchet MS"/>
              </a:rPr>
              <a:t>Plenary</a:t>
            </a:r>
          </a:p>
        </p:txBody>
      </p:sp>
      <p:sp>
        <p:nvSpPr>
          <p:cNvPr id="5" name="txt::footer"/>
          <p:cNvSpPr txBox="1"/>
          <p:nvPr/>
        </p:nvSpPr>
        <p:spPr>
          <a:xfrm>
            <a:off x="566928" y="6437376"/>
            <a:ext cx="868680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AQA A-level Biology  -  3.2.1.2 Prokaryotic cells and viruses</a:t>
            </a:r>
          </a:p>
        </p:txBody>
      </p:sp>
      <p:sp>
        <p:nvSpPr>
          <p:cNvPr id="6" name="txt::pageno"/>
          <p:cNvSpPr txBox="1"/>
          <p:nvPr/>
        </p:nvSpPr>
        <p:spPr>
          <a:xfrm>
            <a:off x="10527487" y="6437376"/>
            <a:ext cx="1097280" cy="292608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C6570"/>
                </a:solidFill>
                <a:latin typeface="Calibri"/>
              </a:rPr>
              <a:t>13</a:t>
            </a:r>
          </a:p>
        </p:txBody>
      </p:sp>
      <p:sp>
        <p:nvSpPr>
          <p:cNvPr id="7" name="card::hingeq"/>
          <p:cNvSpPr/>
          <p:nvPr/>
        </p:nvSpPr>
        <p:spPr>
          <a:xfrm>
            <a:off x="566928" y="1645920"/>
            <a:ext cx="11057839" cy="868680"/>
          </a:xfrm>
          <a:prstGeom prst="roundRect">
            <a:avLst>
              <a:gd name="adj" fmla="val 5500"/>
            </a:avLst>
          </a:prstGeom>
          <a:solidFill>
            <a:srgbClr val="3F3D8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xt::hingeq"/>
          <p:cNvSpPr txBox="1"/>
          <p:nvPr/>
        </p:nvSpPr>
        <p:spPr>
          <a:xfrm>
            <a:off x="859536" y="1737360"/>
            <a:ext cx="10472623" cy="68580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Trebuchet MS"/>
              </a:rPr>
              <a:t>Why is a virus classified as acellular?</a:t>
            </a:r>
          </a:p>
        </p:txBody>
      </p:sp>
      <p:sp>
        <p:nvSpPr>
          <p:cNvPr id="9" name="card::opt0"/>
          <p:cNvSpPr/>
          <p:nvPr/>
        </p:nvSpPr>
        <p:spPr>
          <a:xfrm>
            <a:off x="566928" y="2743200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pill::opt0"/>
          <p:cNvSpPr/>
          <p:nvPr/>
        </p:nvSpPr>
        <p:spPr>
          <a:xfrm>
            <a:off x="749808" y="2935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7265C"/>
                </a:solidFill>
                <a:latin typeface="Trebuchet MS"/>
              </a:rPr>
              <a:t>A</a:t>
            </a:r>
          </a:p>
        </p:txBody>
      </p:sp>
      <p:sp>
        <p:nvSpPr>
          <p:cNvPr id="11" name="txt::opt0"/>
          <p:cNvSpPr txBox="1"/>
          <p:nvPr/>
        </p:nvSpPr>
        <p:spPr>
          <a:xfrm>
            <a:off x="1280160" y="2834640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Because it cannot replicate outside a host cell.</a:t>
            </a:r>
          </a:p>
        </p:txBody>
      </p:sp>
      <p:sp>
        <p:nvSpPr>
          <p:cNvPr id="12" name="card::opt1"/>
          <p:cNvSpPr/>
          <p:nvPr/>
        </p:nvSpPr>
        <p:spPr>
          <a:xfrm>
            <a:off x="6233007" y="2743200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ill::opt1"/>
          <p:cNvSpPr/>
          <p:nvPr/>
        </p:nvSpPr>
        <p:spPr>
          <a:xfrm>
            <a:off x="6415887" y="2935224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7265C"/>
                </a:solidFill>
                <a:latin typeface="Trebuchet MS"/>
              </a:rPr>
              <a:t>B</a:t>
            </a:r>
          </a:p>
        </p:txBody>
      </p:sp>
      <p:sp>
        <p:nvSpPr>
          <p:cNvPr id="14" name="txt::opt1"/>
          <p:cNvSpPr txBox="1"/>
          <p:nvPr/>
        </p:nvSpPr>
        <p:spPr>
          <a:xfrm>
            <a:off x="6946239" y="2834640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Because it has no metabolism of its own.</a:t>
            </a:r>
          </a:p>
        </p:txBody>
      </p:sp>
      <p:sp>
        <p:nvSpPr>
          <p:cNvPr id="15" name="card::opt2"/>
          <p:cNvSpPr/>
          <p:nvPr/>
        </p:nvSpPr>
        <p:spPr>
          <a:xfrm>
            <a:off x="566928" y="3730752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ill::opt2"/>
          <p:cNvSpPr/>
          <p:nvPr/>
        </p:nvSpPr>
        <p:spPr>
          <a:xfrm>
            <a:off x="749808" y="3922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7265C"/>
                </a:solidFill>
                <a:latin typeface="Trebuchet MS"/>
              </a:rPr>
              <a:t>C</a:t>
            </a:r>
          </a:p>
        </p:txBody>
      </p:sp>
      <p:sp>
        <p:nvSpPr>
          <p:cNvPr id="17" name="txt::opt2"/>
          <p:cNvSpPr txBox="1"/>
          <p:nvPr/>
        </p:nvSpPr>
        <p:spPr>
          <a:xfrm>
            <a:off x="1280160" y="3822191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Because it is not made of cells - it has no cell-surface membrane or cytoplasm.</a:t>
            </a:r>
          </a:p>
        </p:txBody>
      </p:sp>
      <p:sp>
        <p:nvSpPr>
          <p:cNvPr id="18" name="card::opt3"/>
          <p:cNvSpPr/>
          <p:nvPr/>
        </p:nvSpPr>
        <p:spPr>
          <a:xfrm>
            <a:off x="6233007" y="3730752"/>
            <a:ext cx="5391759" cy="786384"/>
          </a:xfrm>
          <a:prstGeom prst="roundRect">
            <a:avLst>
              <a:gd name="adj" fmla="val 5500"/>
            </a:avLst>
          </a:prstGeom>
          <a:solidFill>
            <a:srgbClr val="FFFFFF"/>
          </a:solidFill>
          <a:ln>
            <a:noFill/>
          </a:ln>
          <a:effectLst>
            <a:outerShdw blurRad="68580" dist="41148" dir="5400000" rotWithShape="0">
              <a:srgbClr val="8A929B">
                <a:alpha val="2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pill::opt3"/>
          <p:cNvSpPr/>
          <p:nvPr/>
        </p:nvSpPr>
        <p:spPr>
          <a:xfrm>
            <a:off x="6415887" y="3922776"/>
            <a:ext cx="402336" cy="402336"/>
          </a:xfrm>
          <a:prstGeom prst="roundRect">
            <a:avLst>
              <a:gd name="adj" fmla="val 50000"/>
            </a:avLst>
          </a:prstGeom>
          <a:solidFill>
            <a:srgbClr val="ECEC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82296" rIns="82296" tIns="9144" bIns="9144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27265C"/>
                </a:solidFill>
                <a:latin typeface="Trebuchet MS"/>
              </a:rPr>
              <a:t>D</a:t>
            </a:r>
          </a:p>
        </p:txBody>
      </p:sp>
      <p:sp>
        <p:nvSpPr>
          <p:cNvPr id="20" name="txt::opt3"/>
          <p:cNvSpPr txBox="1"/>
          <p:nvPr/>
        </p:nvSpPr>
        <p:spPr>
          <a:xfrm>
            <a:off x="6946239" y="3822191"/>
            <a:ext cx="4523079" cy="603503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23272E"/>
                </a:solidFill>
                <a:latin typeface="Calibri"/>
              </a:rPr>
              <a:t>Because it is smaller than a bacterium.</a:t>
            </a:r>
          </a:p>
        </p:txBody>
      </p:sp>
      <p:sp>
        <p:nvSpPr>
          <p:cNvPr id="21" name="txt::conf"/>
          <p:cNvSpPr txBox="1"/>
          <p:nvPr/>
        </p:nvSpPr>
        <p:spPr>
          <a:xfrm>
            <a:off x="566928" y="4754880"/>
            <a:ext cx="11057839" cy="365760"/>
          </a:xfrm>
          <a:prstGeom prst="rect">
            <a:avLst/>
          </a:prstGeom>
          <a:noFill/>
        </p:spPr>
        <p:txBody>
          <a:bodyPr wrap="square" anchor="ctr" lIns="73152" rIns="73152" tIns="36576" bIns="36576">
            <a:spAutoFit/>
          </a:bodyPr>
          <a:lstStyle/>
          <a:p>
            <a:pPr>
              <a:lnSpc>
                <a:spcPct val="100000"/>
              </a:lnSpc>
            </a:pPr>
            <a:r>
              <a:rPr sz="1200" b="1" i="0">
                <a:solidFill>
                  <a:srgbClr val="5C6570"/>
                </a:solidFill>
                <a:latin typeface="Trebuchet MS"/>
              </a:rPr>
              <a:t>Confidence:  </a:t>
            </a:r>
            <a:r>
              <a:rPr sz="1200" b="1" i="0">
                <a:solidFill>
                  <a:srgbClr val="C0392B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Red — reteach me   </a:t>
            </a:r>
            <a:r>
              <a:rPr sz="1200" b="1" i="0">
                <a:solidFill>
                  <a:srgbClr val="C28B0E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Amber — nearly   </a:t>
            </a:r>
            <a:r>
              <a:rPr sz="1200" b="1" i="0">
                <a:solidFill>
                  <a:srgbClr val="2E8B57"/>
                </a:solidFill>
                <a:latin typeface="Calibri"/>
              </a:rPr>
              <a:t>● </a:t>
            </a:r>
            <a:r>
              <a:rPr sz="1200" b="0" i="0">
                <a:solidFill>
                  <a:srgbClr val="23272E"/>
                </a:solidFill>
                <a:latin typeface="Calibri"/>
              </a:rPr>
              <a:t>Green — secure 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