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:bleed_ring"/>
          <p:cNvSpPr/>
          <p:nvPr/>
        </p:nvSpPr>
        <p:spPr>
          <a:xfrm>
            <a:off x="8321040" y="-1280160"/>
            <a:ext cx="5120640" cy="5120640"/>
          </a:xfrm>
          <a:prstGeom prst="ellipse">
            <a:avLst/>
          </a:prstGeom>
          <a:noFill/>
          <a:ln w="25400">
            <a:solidFill>
              <a:srgbClr val="0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::bleed_ring2"/>
          <p:cNvSpPr/>
          <p:nvPr/>
        </p:nvSpPr>
        <p:spPr>
          <a:xfrm>
            <a:off x="9464040" y="-137160"/>
            <a:ext cx="2834640" cy="2834640"/>
          </a:xfrm>
          <a:prstGeom prst="ellipse">
            <a:avLst/>
          </a:prstGeom>
          <a:noFill/>
          <a:ln w="19050">
            <a:solidFill>
              <a:srgbClr val="0A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ll::spec"/>
          <p:cNvSpPr/>
          <p:nvPr/>
        </p:nvSpPr>
        <p:spPr>
          <a:xfrm>
            <a:off x="566928" y="1417320"/>
            <a:ext cx="19659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5" name="txt::title"/>
          <p:cNvSpPr txBox="1"/>
          <p:nvPr/>
        </p:nvSpPr>
        <p:spPr>
          <a:xfrm>
            <a:off x="566928" y="2148840"/>
            <a:ext cx="969264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Eukaryotic cell structure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 i="0">
                <a:solidFill>
                  <a:srgbClr val="EAF1EF"/>
                </a:solidFill>
                <a:latin typeface="Calibri"/>
              </a:rPr>
              <a:t>Ultrastructure and the structure-function link</a:t>
            </a:r>
          </a:p>
        </p:txBody>
      </p:sp>
      <p:sp>
        <p:nvSpPr>
          <p:cNvPr id="6" name="txt::meta"/>
          <p:cNvSpPr txBox="1"/>
          <p:nvPr/>
        </p:nvSpPr>
        <p:spPr>
          <a:xfrm>
            <a:off x="566928" y="5394960"/>
            <a:ext cx="100584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Year 12 Biology  -  Lesson 1 of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Class 12B  - 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Lesson on a page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2</a:t>
            </a:r>
          </a:p>
        </p:txBody>
      </p:sp>
      <p:sp>
        <p:nvSpPr>
          <p:cNvPr id="6" name="card::staff"/>
          <p:cNvSpPr/>
          <p:nvPr/>
        </p:nvSpPr>
        <p:spPr>
          <a:xfrm>
            <a:off x="566928" y="1554480"/>
            <a:ext cx="580644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stafftbl"/>
          <p:cNvSpPr txBox="1"/>
          <p:nvPr/>
        </p:nvSpPr>
        <p:spPr>
          <a:xfrm>
            <a:off x="841247" y="1810512"/>
            <a:ext cx="525780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Teacher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Miss A. Brown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Class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12B (24 students, mixed prior attainment)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Date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Monday, period 2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Unit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3.2 Cells  -  lesson 1 of 6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Prior learning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GCSE cell biology; last unit 3.1 biological molecules</a:t>
            </a:r>
          </a:p>
        </p:txBody>
      </p:sp>
      <p:sp>
        <p:nvSpPr>
          <p:cNvPr id="8" name="card::spec"/>
          <p:cNvSpPr/>
          <p:nvPr/>
        </p:nvSpPr>
        <p:spPr>
          <a:xfrm>
            <a:off x="6693407" y="1554480"/>
            <a:ext cx="4931359" cy="4297680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pecbody"/>
          <p:cNvSpPr txBox="1"/>
          <p:nvPr/>
        </p:nvSpPr>
        <p:spPr>
          <a:xfrm>
            <a:off x="6949440" y="1792224"/>
            <a:ext cx="4419295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What this lesson serves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3.2.1.1 Eukaryotic ultrastructure: structure AND function of each organelle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The structure-function link made explicit for each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Compartmentalisation as the organising idea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Reference: AQA A-level Biology 7402, section 3.2.1.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Trebuchet MS"/>
              </a:rPr>
              <a:t>RETRIEVAL · DO NOW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Do Now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3</a:t>
            </a:r>
          </a:p>
        </p:txBody>
      </p:sp>
      <p:sp>
        <p:nvSpPr>
          <p:cNvPr id="7" name="txt::donow-instr"/>
          <p:cNvSpPr txBox="1"/>
          <p:nvPr/>
        </p:nvSpPr>
        <p:spPr>
          <a:xfrm>
            <a:off x="566928" y="1527048"/>
            <a:ext cx="10058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570"/>
                </a:solidFill>
                <a:latin typeface="Calibri"/>
              </a:rPr>
              <a:t>Five minutes, silent, closed book. Answers on whiteboards.</a:t>
            </a:r>
          </a:p>
        </p:txBody>
      </p:sp>
      <p:sp>
        <p:nvSpPr>
          <p:cNvPr id="8" name="card::donow0"/>
          <p:cNvSpPr/>
          <p:nvPr/>
        </p:nvSpPr>
        <p:spPr>
          <a:xfrm>
            <a:off x="566928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::dn0"/>
          <p:cNvSpPr/>
          <p:nvPr/>
        </p:nvSpPr>
        <p:spPr>
          <a:xfrm>
            <a:off x="768096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Last lesson</a:t>
            </a:r>
          </a:p>
        </p:txBody>
      </p:sp>
      <p:sp>
        <p:nvSpPr>
          <p:cNvPr id="10" name="txt::donow0"/>
          <p:cNvSpPr txBox="1"/>
          <p:nvPr/>
        </p:nvSpPr>
        <p:spPr>
          <a:xfrm>
            <a:off x="822960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Name the monomer of a protein.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What bond joins two amino acids?</a:t>
            </a:r>
          </a:p>
        </p:txBody>
      </p:sp>
      <p:sp>
        <p:nvSpPr>
          <p:cNvPr id="11" name="card::donow1"/>
          <p:cNvSpPr/>
          <p:nvPr/>
        </p:nvSpPr>
        <p:spPr>
          <a:xfrm>
            <a:off x="4359554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ll::dn1"/>
          <p:cNvSpPr/>
          <p:nvPr/>
        </p:nvSpPr>
        <p:spPr>
          <a:xfrm>
            <a:off x="4560722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Earlier this year</a:t>
            </a:r>
          </a:p>
        </p:txBody>
      </p:sp>
      <p:sp>
        <p:nvSpPr>
          <p:cNvPr id="13" name="txt::donow1"/>
          <p:cNvSpPr txBox="1"/>
          <p:nvPr/>
        </p:nvSpPr>
        <p:spPr>
          <a:xfrm>
            <a:off x="4615586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Give one property of water important in cells.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Which ion is part of a haemoglobin molecule?</a:t>
            </a:r>
          </a:p>
        </p:txBody>
      </p:sp>
      <p:sp>
        <p:nvSpPr>
          <p:cNvPr id="14" name="card::donow2"/>
          <p:cNvSpPr/>
          <p:nvPr/>
        </p:nvSpPr>
        <p:spPr>
          <a:xfrm>
            <a:off x="8152180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::dn2"/>
          <p:cNvSpPr/>
          <p:nvPr/>
        </p:nvSpPr>
        <p:spPr>
          <a:xfrm>
            <a:off x="8353348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Stretch</a:t>
            </a:r>
          </a:p>
        </p:txBody>
      </p:sp>
      <p:sp>
        <p:nvSpPr>
          <p:cNvPr id="16" name="txt::donow2"/>
          <p:cNvSpPr txBox="1"/>
          <p:nvPr/>
        </p:nvSpPr>
        <p:spPr>
          <a:xfrm>
            <a:off x="8408212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 gland cell exports a lot of protein.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Predict two organelles it will be rich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4</a:t>
            </a:r>
          </a:p>
        </p:txBody>
      </p:sp>
      <p:sp>
        <p:nvSpPr>
          <p:cNvPr id="6" name="txt::objhdr1"/>
          <p:cNvSpPr txBox="1"/>
          <p:nvPr/>
        </p:nvSpPr>
        <p:spPr>
          <a:xfrm>
            <a:off x="2212848" y="1289304"/>
            <a:ext cx="60350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OBJECTIVE</a:t>
            </a:r>
          </a:p>
        </p:txBody>
      </p:sp>
      <p:sp>
        <p:nvSpPr>
          <p:cNvPr id="7" name="txt::objhdr2"/>
          <p:cNvSpPr txBox="1"/>
          <p:nvPr/>
        </p:nvSpPr>
        <p:spPr>
          <a:xfrm>
            <a:off x="8247888" y="1289304"/>
            <a:ext cx="3376879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HOW IT IS ASSESSED</a:t>
            </a:r>
          </a:p>
        </p:txBody>
      </p:sp>
      <p:sp>
        <p:nvSpPr>
          <p:cNvPr id="8" name="pill::tier0"/>
          <p:cNvSpPr/>
          <p:nvPr/>
        </p:nvSpPr>
        <p:spPr>
          <a:xfrm>
            <a:off x="566928" y="17465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ALL</a:t>
            </a:r>
          </a:p>
        </p:txBody>
      </p:sp>
      <p:sp>
        <p:nvSpPr>
          <p:cNvPr id="9" name="card::obj0"/>
          <p:cNvSpPr/>
          <p:nvPr/>
        </p:nvSpPr>
        <p:spPr>
          <a:xfrm>
            <a:off x="2212848" y="16002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obj0"/>
          <p:cNvSpPr txBox="1"/>
          <p:nvPr/>
        </p:nvSpPr>
        <p:spPr>
          <a:xfrm>
            <a:off x="2395728" y="17282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Describe the structure of the main organelles, including the role of lysosomes.</a:t>
            </a:r>
          </a:p>
        </p:txBody>
      </p:sp>
      <p:sp>
        <p:nvSpPr>
          <p:cNvPr id="11" name="card::assess0"/>
          <p:cNvSpPr/>
          <p:nvPr/>
        </p:nvSpPr>
        <p:spPr>
          <a:xfrm>
            <a:off x="8247888" y="16002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assess0"/>
          <p:cNvSpPr txBox="1"/>
          <p:nvPr/>
        </p:nvSpPr>
        <p:spPr>
          <a:xfrm>
            <a:off x="8430767" y="17282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4A3E"/>
                </a:solidFill>
                <a:latin typeface="Calibri"/>
              </a:rPr>
              <a:t>1-mark recall items (AO1)</a:t>
            </a:r>
          </a:p>
        </p:txBody>
      </p:sp>
      <p:sp>
        <p:nvSpPr>
          <p:cNvPr id="13" name="pill::tier1"/>
          <p:cNvSpPr/>
          <p:nvPr/>
        </p:nvSpPr>
        <p:spPr>
          <a:xfrm>
            <a:off x="566928" y="31181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MOST</a:t>
            </a:r>
          </a:p>
        </p:txBody>
      </p:sp>
      <p:sp>
        <p:nvSpPr>
          <p:cNvPr id="14" name="card::obj1"/>
          <p:cNvSpPr/>
          <p:nvPr/>
        </p:nvSpPr>
        <p:spPr>
          <a:xfrm>
            <a:off x="2212848" y="29718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::obj1"/>
          <p:cNvSpPr txBox="1"/>
          <p:nvPr/>
        </p:nvSpPr>
        <p:spPr>
          <a:xfrm>
            <a:off x="2395728" y="30998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Explain how each organelle's structure is adapted to its function.</a:t>
            </a:r>
          </a:p>
        </p:txBody>
      </p:sp>
      <p:sp>
        <p:nvSpPr>
          <p:cNvPr id="16" name="card::assess1"/>
          <p:cNvSpPr/>
          <p:nvPr/>
        </p:nvSpPr>
        <p:spPr>
          <a:xfrm>
            <a:off x="8247888" y="29718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::assess1"/>
          <p:cNvSpPr txBox="1"/>
          <p:nvPr/>
        </p:nvSpPr>
        <p:spPr>
          <a:xfrm>
            <a:off x="8430767" y="30998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4A3E"/>
                </a:solidFill>
                <a:latin typeface="Calibri"/>
              </a:rPr>
              <a:t>2-3 mark Explain questions (AO2)</a:t>
            </a:r>
          </a:p>
        </p:txBody>
      </p:sp>
      <p:sp>
        <p:nvSpPr>
          <p:cNvPr id="18" name="pill::tier2"/>
          <p:cNvSpPr/>
          <p:nvPr/>
        </p:nvSpPr>
        <p:spPr>
          <a:xfrm>
            <a:off x="566928" y="44897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SOME</a:t>
            </a:r>
          </a:p>
        </p:txBody>
      </p:sp>
      <p:sp>
        <p:nvSpPr>
          <p:cNvPr id="19" name="card::obj2"/>
          <p:cNvSpPr/>
          <p:nvPr/>
        </p:nvSpPr>
        <p:spPr>
          <a:xfrm>
            <a:off x="2212848" y="43434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::obj2"/>
          <p:cNvSpPr txBox="1"/>
          <p:nvPr/>
        </p:nvSpPr>
        <p:spPr>
          <a:xfrm>
            <a:off x="2395728" y="44714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Link compartmentalisation to the cell working as a whole system.</a:t>
            </a:r>
          </a:p>
        </p:txBody>
      </p:sp>
      <p:sp>
        <p:nvSpPr>
          <p:cNvPr id="21" name="card::assess2"/>
          <p:cNvSpPr/>
          <p:nvPr/>
        </p:nvSpPr>
        <p:spPr>
          <a:xfrm>
            <a:off x="8247888" y="43434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xt::assess2"/>
          <p:cNvSpPr txBox="1"/>
          <p:nvPr/>
        </p:nvSpPr>
        <p:spPr>
          <a:xfrm>
            <a:off x="8430767" y="44714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A4A3E"/>
                </a:solidFill>
                <a:latin typeface="Calibri"/>
              </a:rPr>
              <a:t>6-mark extended prose (AO1/AO2)</a:t>
            </a:r>
          </a:p>
        </p:txBody>
      </p:sp>
      <p:sp>
        <p:nvSpPr>
          <p:cNvPr id="23" name="txt::objnote"/>
          <p:cNvSpPr txBox="1"/>
          <p:nvPr/>
        </p:nvSpPr>
        <p:spPr>
          <a:xfrm>
            <a:off x="566928" y="5696712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Success = precise organelle vocabulary and the structure-function link.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Trebuchet MS"/>
              </a:rPr>
              <a:t>TIER-3 VOCABULARY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Key words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5</a:t>
            </a:r>
          </a:p>
        </p:txBody>
      </p:sp>
      <p:sp>
        <p:nvSpPr>
          <p:cNvPr id="7" name="card::kw0"/>
          <p:cNvSpPr/>
          <p:nvPr/>
        </p:nvSpPr>
        <p:spPr>
          <a:xfrm>
            <a:off x="566928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kw0"/>
          <p:cNvSpPr txBox="1"/>
          <p:nvPr/>
        </p:nvSpPr>
        <p:spPr>
          <a:xfrm>
            <a:off x="786384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Organelle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A specialised structure in a cell with a specific function.</a:t>
            </a:r>
          </a:p>
        </p:txBody>
      </p:sp>
      <p:sp>
        <p:nvSpPr>
          <p:cNvPr id="9" name="card::kw1"/>
          <p:cNvSpPr/>
          <p:nvPr/>
        </p:nvSpPr>
        <p:spPr>
          <a:xfrm>
            <a:off x="6255867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kw1"/>
          <p:cNvSpPr txBox="1"/>
          <p:nvPr/>
        </p:nvSpPr>
        <p:spPr>
          <a:xfrm>
            <a:off x="6475323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Ultrastructure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Fine cell detail seen only with an electron microscope.</a:t>
            </a:r>
          </a:p>
        </p:txBody>
      </p:sp>
      <p:sp>
        <p:nvSpPr>
          <p:cNvPr id="11" name="card::kw2"/>
          <p:cNvSpPr/>
          <p:nvPr/>
        </p:nvSpPr>
        <p:spPr>
          <a:xfrm>
            <a:off x="566928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kw2"/>
          <p:cNvSpPr txBox="1"/>
          <p:nvPr/>
        </p:nvSpPr>
        <p:spPr>
          <a:xfrm>
            <a:off x="786384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Compartmentalisation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Keeping incompatible reactions apart in organelles.</a:t>
            </a:r>
          </a:p>
        </p:txBody>
      </p:sp>
      <p:sp>
        <p:nvSpPr>
          <p:cNvPr id="13" name="card::kw3"/>
          <p:cNvSpPr/>
          <p:nvPr/>
        </p:nvSpPr>
        <p:spPr>
          <a:xfrm>
            <a:off x="6255867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::kw3"/>
          <p:cNvSpPr txBox="1"/>
          <p:nvPr/>
        </p:nvSpPr>
        <p:spPr>
          <a:xfrm>
            <a:off x="6475323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Cristae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Folds of the inner mitochondrial membrane.</a:t>
            </a:r>
          </a:p>
        </p:txBody>
      </p:sp>
      <p:sp>
        <p:nvSpPr>
          <p:cNvPr id="15" name="card::kw4"/>
          <p:cNvSpPr/>
          <p:nvPr/>
        </p:nvSpPr>
        <p:spPr>
          <a:xfrm>
            <a:off x="566928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::kw4"/>
          <p:cNvSpPr txBox="1"/>
          <p:nvPr/>
        </p:nvSpPr>
        <p:spPr>
          <a:xfrm>
            <a:off x="786384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Nuclear envelope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double membrane with pores around the nucleus.</a:t>
            </a:r>
          </a:p>
        </p:txBody>
      </p:sp>
      <p:sp>
        <p:nvSpPr>
          <p:cNvPr id="17" name="card::kw5"/>
          <p:cNvSpPr/>
          <p:nvPr/>
        </p:nvSpPr>
        <p:spPr>
          <a:xfrm>
            <a:off x="6255867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::kw5"/>
          <p:cNvSpPr txBox="1"/>
          <p:nvPr/>
        </p:nvSpPr>
        <p:spPr>
          <a:xfrm>
            <a:off x="6475323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0A4A3E"/>
                </a:solidFill>
                <a:latin typeface="Trebuchet MS"/>
              </a:rPr>
              <a:t>Vesicle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A small membrane sac that transports substances in the cell.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The eukaryotic cell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6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6400800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5815584" cy="3337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Eukaryotic cells have membrane-bound organelles, each carrying out a specific function.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Compartmentalisation lets incompatible reactions run at the same time in one cell.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Each organelle's structure is adapted to the reaction it houses.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same core organelles appear in animal, plant and fungal cells.</a:t>
            </a:r>
          </a:p>
        </p:txBody>
      </p:sp>
      <p:sp>
        <p:nvSpPr>
          <p:cNvPr id="8" name="card::side"/>
          <p:cNvSpPr/>
          <p:nvPr/>
        </p:nvSpPr>
        <p:spPr>
          <a:xfrm>
            <a:off x="7287768" y="1600200"/>
            <a:ext cx="4336999" cy="3794760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ide"/>
          <p:cNvSpPr txBox="1"/>
          <p:nvPr/>
        </p:nvSpPr>
        <p:spPr>
          <a:xfrm>
            <a:off x="7525512" y="1819656"/>
            <a:ext cx="3861511" cy="33558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Watch for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Structure AND function - both are credited.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E7C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Precise vocabulary scores; GCSE phrasing does not.</a:t>
            </a:r>
          </a:p>
        </p:txBody>
      </p:sp>
      <p:sp>
        <p:nvSpPr>
          <p:cNvPr id="10" name="card::callout"/>
          <p:cNvSpPr/>
          <p:nvPr/>
        </p:nvSpPr>
        <p:spPr>
          <a:xfrm>
            <a:off x="566928" y="5596128"/>
            <a:ext cx="11057839" cy="621792"/>
          </a:xfrm>
          <a:prstGeom prst="roundRect">
            <a:avLst>
              <a:gd name="adj" fmla="val 5500"/>
            </a:avLst>
          </a:prstGeom>
          <a:solidFill>
            <a:srgbClr val="0E7C66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::callout"/>
          <p:cNvSpPr txBox="1"/>
          <p:nvPr/>
        </p:nvSpPr>
        <p:spPr>
          <a:xfrm>
            <a:off x="841247" y="5650992"/>
            <a:ext cx="10509199" cy="5120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Big idea: structure explains function - state the link, do not just name the part.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Mitochondria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7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The site of aerobic respiration.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A double membrane; the inner membrane is folded into cristae.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Cristae increase the surface area for the enzymes of aerobic respiration.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This is where most of the cell's ATP is produced.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fluid interior is the matrix, where part of respiration occurs.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Ribosomes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8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Ribosomes are tiny organelles made of DNA and protein.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They are the site of protein synthesis (translation).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Found free in the cytoplasm and bound to the rough endoplasmic reticulum.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The nucleus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9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nucleus is surrounded by a nuclear envelope with many pores.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nuclear pores control what enters and leaves, such as mRNA.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It stores the cell's genetic information and controls all the cell's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Inside a eukaryotic cell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10</a:t>
            </a:r>
          </a:p>
        </p:txBody>
      </p:sp>
      <p:sp>
        <p:nvSpPr>
          <p:cNvPr id="6" name="card::diagram"/>
          <p:cNvSpPr/>
          <p:nvPr/>
        </p:nvSpPr>
        <p:spPr>
          <a:xfrm>
            <a:off x="566928" y="1645920"/>
            <a:ext cx="753739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g::membrane"/>
          <p:cNvSpPr/>
          <p:nvPr/>
        </p:nvSpPr>
        <p:spPr>
          <a:xfrm>
            <a:off x="886968" y="1965960"/>
            <a:ext cx="6897319" cy="3657600"/>
          </a:xfrm>
          <a:prstGeom prst="roundRect">
            <a:avLst>
              <a:gd name="adj" fmla="val 18000"/>
            </a:avLst>
          </a:prstGeom>
          <a:solidFill>
            <a:srgbClr val="EAF4F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8" name="diag::nucleus"/>
          <p:cNvSpPr/>
          <p:nvPr/>
        </p:nvSpPr>
        <p:spPr>
          <a:xfrm>
            <a:off x="3421227" y="3337560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0E7C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Nucleus</a:t>
            </a:r>
          </a:p>
        </p:txBody>
      </p:sp>
      <p:sp>
        <p:nvSpPr>
          <p:cNvPr id="9" name="diag::mito"/>
          <p:cNvSpPr/>
          <p:nvPr/>
        </p:nvSpPr>
        <p:spPr>
          <a:xfrm>
            <a:off x="1252728" y="2331720"/>
            <a:ext cx="1645920" cy="640080"/>
          </a:xfrm>
          <a:prstGeom prst="roundRect">
            <a:avLst>
              <a:gd name="adj" fmla="val 18000"/>
            </a:avLst>
          </a:prstGeom>
          <a:solidFill>
            <a:srgbClr val="0A4A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Mitochondrion</a:t>
            </a:r>
          </a:p>
        </p:txBody>
      </p:sp>
      <p:sp>
        <p:nvSpPr>
          <p:cNvPr id="10" name="diag::golgi"/>
          <p:cNvSpPr/>
          <p:nvPr/>
        </p:nvSpPr>
        <p:spPr>
          <a:xfrm>
            <a:off x="5818327" y="2331720"/>
            <a:ext cx="1645920" cy="640080"/>
          </a:xfrm>
          <a:prstGeom prst="roundRect">
            <a:avLst>
              <a:gd name="adj" fmla="val 18000"/>
            </a:avLst>
          </a:prstGeom>
          <a:solidFill>
            <a:srgbClr val="0A4A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Golgi apparatus</a:t>
            </a:r>
          </a:p>
        </p:txBody>
      </p:sp>
      <p:sp>
        <p:nvSpPr>
          <p:cNvPr id="11" name="diag::rer"/>
          <p:cNvSpPr/>
          <p:nvPr/>
        </p:nvSpPr>
        <p:spPr>
          <a:xfrm>
            <a:off x="1252728" y="4617720"/>
            <a:ext cx="1737360" cy="640080"/>
          </a:xfrm>
          <a:prstGeom prst="roundRect">
            <a:avLst>
              <a:gd name="adj" fmla="val 18000"/>
            </a:avLst>
          </a:prstGeom>
          <a:solidFill>
            <a:srgbClr val="0A4A3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Rough ER</a:t>
            </a:r>
          </a:p>
        </p:txBody>
      </p:sp>
      <p:sp>
        <p:nvSpPr>
          <p:cNvPr id="12" name="diag::ribo"/>
          <p:cNvSpPr/>
          <p:nvPr/>
        </p:nvSpPr>
        <p:spPr>
          <a:xfrm>
            <a:off x="5909767" y="4617720"/>
            <a:ext cx="1554480" cy="640080"/>
          </a:xfrm>
          <a:prstGeom prst="roundRect">
            <a:avLst>
              <a:gd name="adj" fmla="val 18000"/>
            </a:avLst>
          </a:prstGeom>
          <a:solidFill>
            <a:srgbClr val="0E7C6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Ribosomes</a:t>
            </a:r>
          </a:p>
        </p:txBody>
      </p:sp>
      <p:sp>
        <p:nvSpPr>
          <p:cNvPr id="13" name="card::legend"/>
          <p:cNvSpPr/>
          <p:nvPr/>
        </p:nvSpPr>
        <p:spPr>
          <a:xfrm>
            <a:off x="8424367" y="1645920"/>
            <a:ext cx="320040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::legendttl"/>
          <p:cNvSpPr txBox="1"/>
          <p:nvPr/>
        </p:nvSpPr>
        <p:spPr>
          <a:xfrm>
            <a:off x="8607247" y="1764792"/>
            <a:ext cx="2834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A4A3E"/>
                </a:solidFill>
                <a:latin typeface="Trebuchet MS"/>
              </a:rPr>
              <a:t>Key</a:t>
            </a:r>
          </a:p>
        </p:txBody>
      </p:sp>
      <p:sp>
        <p:nvSpPr>
          <p:cNvPr id="15" name="deco::swatch"/>
          <p:cNvSpPr/>
          <p:nvPr/>
        </p:nvSpPr>
        <p:spPr>
          <a:xfrm>
            <a:off x="8625535" y="2157984"/>
            <a:ext cx="219456" cy="219456"/>
          </a:xfrm>
          <a:prstGeom prst="rect">
            <a:avLst/>
          </a:prstGeom>
          <a:solidFill>
            <a:srgbClr val="0E7C66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::legend0"/>
          <p:cNvSpPr txBox="1"/>
          <p:nvPr/>
        </p:nvSpPr>
        <p:spPr>
          <a:xfrm>
            <a:off x="8936431" y="2084832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Nucleus / ribosomes</a:t>
            </a:r>
          </a:p>
        </p:txBody>
      </p:sp>
      <p:sp>
        <p:nvSpPr>
          <p:cNvPr id="17" name="deco::swatch"/>
          <p:cNvSpPr/>
          <p:nvPr/>
        </p:nvSpPr>
        <p:spPr>
          <a:xfrm>
            <a:off x="8625535" y="2542032"/>
            <a:ext cx="219456" cy="219456"/>
          </a:xfrm>
          <a:prstGeom prst="rect">
            <a:avLst/>
          </a:prstGeom>
          <a:solidFill>
            <a:srgbClr val="0A4A3E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::legend1"/>
          <p:cNvSpPr txBox="1"/>
          <p:nvPr/>
        </p:nvSpPr>
        <p:spPr>
          <a:xfrm>
            <a:off x="8936431" y="2468880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Cytoplasmic organelles</a:t>
            </a:r>
          </a:p>
        </p:txBody>
      </p:sp>
      <p:sp>
        <p:nvSpPr>
          <p:cNvPr id="19" name="deco::swatch"/>
          <p:cNvSpPr/>
          <p:nvPr/>
        </p:nvSpPr>
        <p:spPr>
          <a:xfrm>
            <a:off x="8625535" y="2926080"/>
            <a:ext cx="219456" cy="219456"/>
          </a:xfrm>
          <a:prstGeom prst="rect">
            <a:avLst/>
          </a:prstGeom>
          <a:solidFill>
            <a:srgbClr val="EAF4F1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::legend2"/>
          <p:cNvSpPr txBox="1"/>
          <p:nvPr/>
        </p:nvSpPr>
        <p:spPr>
          <a:xfrm>
            <a:off x="8936431" y="2852928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Cell-surface membrane</a:t>
            </a:r>
          </a:p>
        </p:txBody>
      </p:sp>
      <p:sp>
        <p:nvSpPr>
          <p:cNvPr id="21" name="txt::diagcap"/>
          <p:cNvSpPr txBox="1"/>
          <p:nvPr/>
        </p:nvSpPr>
        <p:spPr>
          <a:xfrm>
            <a:off x="8424367" y="4754880"/>
            <a:ext cx="32004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Schematic; not to scale. Plant cells also have a cell wall, a vacuole and chloroplasts.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Rough ER and Golgi apparatus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11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Ribosomes on the rough endoplasmic reticulum synthesise proteins for export.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proteins are folded, then carried in vesicles to the Golgi apparatus.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The Golgi apparatus modifies the proteins, for example adding carbohydrate to form glycoproteins.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0E7C66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It then packages and sorts them into vesicles for transport out of the cell.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Trebuchet MS"/>
              </a:rPr>
              <a:t>WORKED EXAMPLE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Building a structure-function answer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12</a:t>
            </a:r>
          </a:p>
        </p:txBody>
      </p:sp>
      <p:sp>
        <p:nvSpPr>
          <p:cNvPr id="7" name="card::we0"/>
          <p:cNvSpPr/>
          <p:nvPr/>
        </p:nvSpPr>
        <p:spPr>
          <a:xfrm>
            <a:off x="566928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::we0"/>
          <p:cNvSpPr/>
          <p:nvPr/>
        </p:nvSpPr>
        <p:spPr>
          <a:xfrm>
            <a:off x="786384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I do  ·  I model it</a:t>
            </a:r>
          </a:p>
        </p:txBody>
      </p:sp>
      <p:sp>
        <p:nvSpPr>
          <p:cNvPr id="9" name="txt::we0"/>
          <p:cNvSpPr txBox="1"/>
          <p:nvPr/>
        </p:nvSpPr>
        <p:spPr>
          <a:xfrm>
            <a:off x="84124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Cristae are folds of the inner mitochondrial membrane.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The folds increase the surface area.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More surface area holds more respiratory enzymes.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So: cristae -&gt; more surface area -&gt; more ATP produced.</a:t>
            </a:r>
          </a:p>
        </p:txBody>
      </p:sp>
      <p:sp>
        <p:nvSpPr>
          <p:cNvPr id="10" name="card::we1"/>
          <p:cNvSpPr/>
          <p:nvPr/>
        </p:nvSpPr>
        <p:spPr>
          <a:xfrm>
            <a:off x="6255867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EAF4F1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ll::we1"/>
          <p:cNvSpPr/>
          <p:nvPr/>
        </p:nvSpPr>
        <p:spPr>
          <a:xfrm>
            <a:off x="6475323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We do  ·  we try it together</a:t>
            </a:r>
          </a:p>
        </p:txBody>
      </p:sp>
      <p:sp>
        <p:nvSpPr>
          <p:cNvPr id="12" name="txt::we1"/>
          <p:cNvSpPr txBox="1"/>
          <p:nvPr/>
        </p:nvSpPr>
        <p:spPr>
          <a:xfrm>
            <a:off x="653018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Now the rough ER: what is its structure?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What does that structure let it do?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0E7C66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Build the same structure -&gt; function -&gt; consequence chain together.</a:t>
            </a:r>
          </a:p>
        </p:txBody>
      </p:sp>
      <p:sp>
        <p:nvSpPr>
          <p:cNvPr id="13" name="txt::wenote"/>
          <p:cNvSpPr txBox="1"/>
          <p:nvPr/>
        </p:nvSpPr>
        <p:spPr>
          <a:xfrm>
            <a:off x="566928" y="5769864"/>
            <a:ext cx="110578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C6570"/>
                </a:solidFill>
                <a:latin typeface="Calibri"/>
              </a:rPr>
              <a:t>Each link earns a separate mark - never jump straight to the endpoint.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Trebuchet MS"/>
              </a:rPr>
              <a:t>INDEPENDENT PRACTICE · YOU DO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Exam-style question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13</a:t>
            </a:r>
          </a:p>
        </p:txBody>
      </p:sp>
      <p:sp>
        <p:nvSpPr>
          <p:cNvPr id="7" name="card::exam"/>
          <p:cNvSpPr/>
          <p:nvPr/>
        </p:nvSpPr>
        <p:spPr>
          <a:xfrm>
            <a:off x="566928" y="1691640"/>
            <a:ext cx="11057839" cy="3383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::tag"/>
          <p:cNvSpPr/>
          <p:nvPr/>
        </p:nvSpPr>
        <p:spPr>
          <a:xfrm>
            <a:off x="10765231" y="1929384"/>
            <a:ext cx="585216" cy="329184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A3E"/>
                </a:solidFill>
                <a:latin typeface="Trebuchet MS"/>
              </a:rPr>
              <a:t>AO2</a:t>
            </a:r>
          </a:p>
        </p:txBody>
      </p:sp>
      <p:sp>
        <p:nvSpPr>
          <p:cNvPr id="9" name="pill::tag"/>
          <p:cNvSpPr/>
          <p:nvPr/>
        </p:nvSpPr>
        <p:spPr>
          <a:xfrm>
            <a:off x="9704527" y="1929384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A3E"/>
                </a:solidFill>
                <a:latin typeface="Trebuchet MS"/>
              </a:rPr>
              <a:t>3 marks</a:t>
            </a:r>
          </a:p>
        </p:txBody>
      </p:sp>
      <p:sp>
        <p:nvSpPr>
          <p:cNvPr id="10" name="pill::tag"/>
          <p:cNvSpPr/>
          <p:nvPr/>
        </p:nvSpPr>
        <p:spPr>
          <a:xfrm>
            <a:off x="8643823" y="1929384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 w="12700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A4A3E"/>
                </a:solidFill>
                <a:latin typeface="Trebuchet MS"/>
              </a:rPr>
              <a:t>Suggest</a:t>
            </a:r>
          </a:p>
        </p:txBody>
      </p:sp>
      <p:sp>
        <p:nvSpPr>
          <p:cNvPr id="11" name="txt::examstem"/>
          <p:cNvSpPr txBox="1"/>
          <p:nvPr/>
        </p:nvSpPr>
        <p:spPr>
          <a:xfrm>
            <a:off x="877824" y="2468880"/>
            <a:ext cx="10436047" cy="2377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3272E"/>
                </a:solidFill>
                <a:latin typeface="Calibri"/>
              </a:rPr>
              <a:t>Figure 1 shows a cell from the pancreas. It has many mitochondria and extensive rough endoplasmic reticulum.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3272E"/>
                </a:solidFill>
                <a:latin typeface="Calibri"/>
              </a:rPr>
              <a:t>Suggest how these two features are related to the function of the cell.</a:t>
            </a:r>
          </a:p>
        </p:txBody>
      </p:sp>
      <p:sp>
        <p:nvSpPr>
          <p:cNvPr id="12" name="card::examinstr"/>
          <p:cNvSpPr/>
          <p:nvPr/>
        </p:nvSpPr>
        <p:spPr>
          <a:xfrm>
            <a:off x="566928" y="5276088"/>
            <a:ext cx="11057839" cy="603504"/>
          </a:xfrm>
          <a:prstGeom prst="roundRect">
            <a:avLst>
              <a:gd name="adj" fmla="val 5500"/>
            </a:avLst>
          </a:prstGeom>
          <a:solidFill>
            <a:srgbClr val="0E7C66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::examinstr"/>
          <p:cNvSpPr txBox="1"/>
          <p:nvPr/>
        </p:nvSpPr>
        <p:spPr>
          <a:xfrm>
            <a:off x="841247" y="5321808"/>
            <a:ext cx="10509199" cy="5120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Answer this on your own now and hand it in at the 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3.2.1.1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E7C66"/>
                </a:solidFill>
                <a:latin typeface="Trebuchet MS"/>
              </a:rPr>
              <a:t>PLENARY · HINGE QUESTION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A4A3E"/>
                </a:solidFill>
                <a:latin typeface="Trebuchet MS"/>
              </a:rPr>
              <a:t>Plenary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·  3.2.1.1 Eukaryotic cell structure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14</a:t>
            </a:r>
          </a:p>
        </p:txBody>
      </p:sp>
      <p:sp>
        <p:nvSpPr>
          <p:cNvPr id="7" name="card::hingeq"/>
          <p:cNvSpPr/>
          <p:nvPr/>
        </p:nvSpPr>
        <p:spPr>
          <a:xfrm>
            <a:off x="566928" y="1645920"/>
            <a:ext cx="11057839" cy="868680"/>
          </a:xfrm>
          <a:prstGeom prst="roundRect">
            <a:avLst>
              <a:gd name="adj" fmla="val 5500"/>
            </a:avLst>
          </a:prstGeom>
          <a:solidFill>
            <a:srgbClr val="0E7C66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hingeq"/>
          <p:cNvSpPr txBox="1"/>
          <p:nvPr/>
        </p:nvSpPr>
        <p:spPr>
          <a:xfrm>
            <a:off x="859536" y="1737360"/>
            <a:ext cx="10472623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Trebuchet MS"/>
              </a:rPr>
              <a:t>Which statement about mitochondria would score at A-level?</a:t>
            </a:r>
          </a:p>
        </p:txBody>
      </p:sp>
      <p:sp>
        <p:nvSpPr>
          <p:cNvPr id="9" name="card::opt0"/>
          <p:cNvSpPr/>
          <p:nvPr/>
        </p:nvSpPr>
        <p:spPr>
          <a:xfrm>
            <a:off x="566928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ll::opt0"/>
          <p:cNvSpPr/>
          <p:nvPr/>
        </p:nvSpPr>
        <p:spPr>
          <a:xfrm>
            <a:off x="749808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A</a:t>
            </a:r>
          </a:p>
        </p:txBody>
      </p:sp>
      <p:sp>
        <p:nvSpPr>
          <p:cNvPr id="11" name="txt::opt0"/>
          <p:cNvSpPr txBox="1"/>
          <p:nvPr/>
        </p:nvSpPr>
        <p:spPr>
          <a:xfrm>
            <a:off x="1280160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Mitochondria are the powerhouse of the cell.</a:t>
            </a:r>
          </a:p>
        </p:txBody>
      </p:sp>
      <p:sp>
        <p:nvSpPr>
          <p:cNvPr id="12" name="card::opt1"/>
          <p:cNvSpPr/>
          <p:nvPr/>
        </p:nvSpPr>
        <p:spPr>
          <a:xfrm>
            <a:off x="6233007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::opt1"/>
          <p:cNvSpPr/>
          <p:nvPr/>
        </p:nvSpPr>
        <p:spPr>
          <a:xfrm>
            <a:off x="6415887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B</a:t>
            </a:r>
          </a:p>
        </p:txBody>
      </p:sp>
      <p:sp>
        <p:nvSpPr>
          <p:cNvPr id="14" name="txt::opt1"/>
          <p:cNvSpPr txBox="1"/>
          <p:nvPr/>
        </p:nvSpPr>
        <p:spPr>
          <a:xfrm>
            <a:off x="6946239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Mitochondria make energy for the cell.</a:t>
            </a:r>
          </a:p>
        </p:txBody>
      </p:sp>
      <p:sp>
        <p:nvSpPr>
          <p:cNvPr id="15" name="card::opt2"/>
          <p:cNvSpPr/>
          <p:nvPr/>
        </p:nvSpPr>
        <p:spPr>
          <a:xfrm>
            <a:off x="566928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::opt2"/>
          <p:cNvSpPr/>
          <p:nvPr/>
        </p:nvSpPr>
        <p:spPr>
          <a:xfrm>
            <a:off x="749808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C</a:t>
            </a:r>
          </a:p>
        </p:txBody>
      </p:sp>
      <p:sp>
        <p:nvSpPr>
          <p:cNvPr id="17" name="txt::opt2"/>
          <p:cNvSpPr txBox="1"/>
          <p:nvPr/>
        </p:nvSpPr>
        <p:spPr>
          <a:xfrm>
            <a:off x="1280160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Mitochondria are the site of aerobic respiration, producing ATP.</a:t>
            </a:r>
          </a:p>
        </p:txBody>
      </p:sp>
      <p:sp>
        <p:nvSpPr>
          <p:cNvPr id="18" name="card::opt3"/>
          <p:cNvSpPr/>
          <p:nvPr/>
        </p:nvSpPr>
        <p:spPr>
          <a:xfrm>
            <a:off x="6233007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ll::opt3"/>
          <p:cNvSpPr/>
          <p:nvPr/>
        </p:nvSpPr>
        <p:spPr>
          <a:xfrm>
            <a:off x="6415887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A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4A3E"/>
                </a:solidFill>
                <a:latin typeface="Trebuchet MS"/>
              </a:rPr>
              <a:t>D</a:t>
            </a:r>
          </a:p>
        </p:txBody>
      </p:sp>
      <p:sp>
        <p:nvSpPr>
          <p:cNvPr id="20" name="txt::opt3"/>
          <p:cNvSpPr txBox="1"/>
          <p:nvPr/>
        </p:nvSpPr>
        <p:spPr>
          <a:xfrm>
            <a:off x="6946239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Mitochondria store the cell's genetic material.</a:t>
            </a:r>
          </a:p>
        </p:txBody>
      </p:sp>
      <p:sp>
        <p:nvSpPr>
          <p:cNvPr id="21" name="txt::conf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5C6570"/>
                </a:solidFill>
                <a:latin typeface="Trebuchet MS"/>
              </a:rPr>
              <a:t>Confidence: 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Red — reteach me   </a:t>
            </a:r>
            <a:r>
              <a:rPr sz="1200" b="1" i="0">
                <a:solidFill>
                  <a:srgbClr val="C28B0E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Amber — nearly   </a:t>
            </a:r>
            <a:r>
              <a:rPr sz="12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Green — secure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