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94760"/>
            <a:ext cx="2194560" cy="82296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488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Segoe UI Semibold"/>
              </a:rPr>
              <a:t>Cell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690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DDECE7"/>
                </a:solidFill>
                <a:latin typeface="Segoe UI"/>
              </a:rPr>
              <a:t>The ultrastructure of cells — and the techniques that reveal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064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D6CD"/>
                </a:solidFill>
                <a:latin typeface="Segoe UI"/>
              </a:rPr>
              <a:t>AQA A-level Biology (7402)  ·  3.2.1  ·  Year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Today's 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AQA A-level Biology · 3.2.1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52F2C"/>
                </a:solidFill>
                <a:latin typeface="Segoe UI"/>
              </a:rPr>
              <a:t>By the end of this lesson you should be able to: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1094415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42416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✓  Describe the structure and function of the main eukaryotic organelles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✓  Compare the structure of prokaryotic and eukaryotic cells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✓  Explain why viruses are classified as acellular and non-living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✓  Use the magnification equation to calculate the real size of a structure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✓  Produce a labelled scientific drawing that follows the conventions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Do Now —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AQA A-level Biology · 3.2.1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685800"/>
          </a:xfrm>
          <a:prstGeom prst="round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5E50"/>
                </a:solidFill>
                <a:latin typeface="Segoe UI"/>
              </a:rPr>
              <a:t>In silence, from memory — five minutes. We will check answers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109441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1.  Name three organelles you would find in an animal cell.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2.  What is the function of the cell-surface (plasma) membrane?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3.  Give one structural difference between a plant cell and an animal cell.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4.  Which organelle contains the chromosomes?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5.  From last week: what does the word 'organelle' mean?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Eukaryotic cells: the organelles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AQA A-level Biology · 3.2.1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A7773"/>
                </a:solidFill>
                <a:latin typeface="Segoe UI"/>
              </a:rPr>
              <a:t>Each organelle is a compartment with its own job.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11094413" cy="4498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20599"/>
                <a:gridCol w="4336907"/>
                <a:gridCol w="4336907"/>
              </a:tblGrid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Organelle</a:t>
                      </a:r>
                    </a:p>
                  </a:txBody>
                  <a:tcPr marL="109728" marR="91440" marT="45720" marB="45720" anchor="ctr">
                    <a:solidFill>
                      <a:srgbClr val="1B5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Structure</a:t>
                      </a:r>
                    </a:p>
                  </a:txBody>
                  <a:tcPr marL="109728" marR="91440" marT="45720" marB="45720" anchor="ctr">
                    <a:solidFill>
                      <a:srgbClr val="1B5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Function</a:t>
                      </a:r>
                    </a:p>
                  </a:txBody>
                  <a:tcPr marL="109728" marR="91440" marT="45720" marB="45720" anchor="ctr">
                    <a:solidFill>
                      <a:srgbClr val="1B5E50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Nucleus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Nuclear envelope with pores; contains chromatin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Controls all the activities of the cell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Mitochondrion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Double membrane; inner membrane folded into cristae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Produces energy for the cell through respiration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Ribosome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Small (80S); made of rRNA and protein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Site of protein synthesis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Rough endoplasmic reticulum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Membrane sheets studded with ribosomes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Folds and transports proteins for secretion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Golgi apparatus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Stack of flattened membrane-bound sacs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Modifies and packages proteins; forms lysosomes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Prokaryotic vs eukaryotic cells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AQA A-level Biology · 3.2.1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4413" cy="4352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17438"/>
                <a:gridCol w="3850953"/>
                <a:gridCol w="4126022"/>
              </a:tblGrid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109728" marR="91440" marT="45720" marB="45720" anchor="ctr">
                    <a:solidFill>
                      <a:srgbClr val="1B5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Eukaryotic cell</a:t>
                      </a:r>
                    </a:p>
                  </a:txBody>
                  <a:tcPr marL="109728" marR="91440" marT="45720" marB="45720" anchor="ctr">
                    <a:solidFill>
                      <a:srgbClr val="1B5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Prokaryotic cell</a:t>
                      </a:r>
                    </a:p>
                  </a:txBody>
                  <a:tcPr marL="109728" marR="91440" marT="45720" marB="45720" anchor="ctr">
                    <a:solidFill>
                      <a:srgbClr val="1B5E50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Typical size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10 – 100 µm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1 – 5 µm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Nucleus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Present, membrane-bound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None — DNA lies free in the cytoplasm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DNA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Linear, associated with histones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Circular, not associated with histones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Membrane-bound organelles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Present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Absent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Ribosomes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80S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70S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Cell wall (where present)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Cellulose (in plants)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Murein (peptidoglycan)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The structure of a bacterial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AQA A-level Biology · 3.2.1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4754880" cy="3108960"/>
          </a:xfrm>
          <a:prstGeom prst="roundRect">
            <a:avLst>
              <a:gd name="adj" fmla="val 50000"/>
            </a:avLst>
          </a:prstGeom>
          <a:solidFill>
            <a:srgbClr val="DDECE7"/>
          </a:solidFill>
          <a:ln w="31750">
            <a:solidFill>
              <a:srgbClr val="1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94560" y="3017520"/>
            <a:ext cx="1737360" cy="1005840"/>
          </a:xfrm>
          <a:prstGeom prst="ellipse">
            <a:avLst/>
          </a:prstGeom>
          <a:noFill/>
          <a:ln w="25400">
            <a:solidFill>
              <a:srgbClr val="1B5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2468880"/>
            <a:ext cx="146304" cy="146304"/>
          </a:xfrm>
          <a:prstGeom prst="ellipse">
            <a:avLst/>
          </a:prstGeom>
          <a:solidFill>
            <a:srgbClr val="2E8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80560" y="2468880"/>
            <a:ext cx="146304" cy="146304"/>
          </a:xfrm>
          <a:prstGeom prst="ellipse">
            <a:avLst/>
          </a:prstGeom>
          <a:solidFill>
            <a:srgbClr val="2E8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71600" y="4297680"/>
            <a:ext cx="146304" cy="146304"/>
          </a:xfrm>
          <a:prstGeom prst="ellipse">
            <a:avLst/>
          </a:prstGeom>
          <a:solidFill>
            <a:srgbClr val="2E8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0" y="4297680"/>
            <a:ext cx="146304" cy="146304"/>
          </a:xfrm>
          <a:prstGeom prst="ellipse">
            <a:avLst/>
          </a:prstGeom>
          <a:solidFill>
            <a:srgbClr val="2E8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26080" y="4572000"/>
            <a:ext cx="146304" cy="146304"/>
          </a:xfrm>
          <a:prstGeom prst="ellipse">
            <a:avLst/>
          </a:prstGeom>
          <a:solidFill>
            <a:srgbClr val="2E8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A7773"/>
                </a:solidFill>
                <a:latin typeface="Segoe UI"/>
              </a:rPr>
              <a:t>A generalised bacterial cell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60720" y="1554480"/>
            <a:ext cx="5806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783080"/>
            <a:ext cx="5303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1B5E50"/>
                </a:solidFill>
                <a:latin typeface="Segoe UI"/>
              </a:rPr>
              <a:t>All bacterial cells contain: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423160"/>
            <a:ext cx="53035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52F2C"/>
                </a:solidFill>
                <a:latin typeface="Segoe UI"/>
              </a:rPr>
              <a:t>•  a cell wall made of murein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52F2C"/>
                </a:solidFill>
                <a:latin typeface="Segoe UI"/>
              </a:rPr>
              <a:t>•  a cell-surface membrane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52F2C"/>
                </a:solidFill>
                <a:latin typeface="Segoe UI"/>
              </a:rPr>
              <a:t>•  cytoplasm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52F2C"/>
                </a:solidFill>
                <a:latin typeface="Segoe UI"/>
              </a:rPr>
              <a:t>•  70S ribosomes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52F2C"/>
                </a:solidFill>
                <a:latin typeface="Segoe UI"/>
              </a:rPr>
              <a:t>•  circular DNA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52F2C"/>
                </a:solidFill>
                <a:latin typeface="Segoe UI"/>
              </a:rPr>
              <a:t>•  plasmids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52F2C"/>
                </a:solidFill>
                <a:latin typeface="Segoe UI"/>
              </a:rPr>
              <a:t>•  a capsule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>
                <a:solidFill>
                  <a:srgbClr val="252F2C"/>
                </a:solidFill>
                <a:latin typeface="Segoe UI"/>
              </a:rPr>
              <a:t>•  flagella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Viruses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AQA A-level Biology · 3.2.1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•  Viruses are acellular and non-living: they are not made of cells and cannot reproduce outside a host cell.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•  All viruses contain genetic information (DNA or RNA), a capsid (protein coat), and attachment proteins.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•  Some viruses also have a lipid envelope taken from the host membrane — for example, HIV.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•  Antibiotics have no effect on viruses because viruses have no murein cell wall or ribosomes for the drug to target.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Magnification and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AQA A-level Biology · 3.2.1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441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•  Magnification — how many times larger the image is than the real object.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•  Resolution — the smallest distance between two points that can still be seen as separate.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5486400" cy="914400"/>
          </a:xfrm>
          <a:prstGeom prst="round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10128"/>
            <a:ext cx="4937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B5E50"/>
                </a:solidFill>
                <a:latin typeface="Segoe UI"/>
              </a:rPr>
              <a:t>magnification  =  image size ÷ actual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480560"/>
            <a:ext cx="11094415" cy="1188720"/>
          </a:xfrm>
          <a:prstGeom prst="round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617720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52F2C"/>
                </a:solidFill>
                <a:latin typeface="Segoe UI"/>
              </a:rPr>
              <a:t>Key point: if an organelle is too small to see, increase the magnification to make it clearer.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Three microscopes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AQA A-level Biology · 3.2.1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94413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42098"/>
                <a:gridCol w="1833787"/>
                <a:gridCol w="3300817"/>
                <a:gridCol w="4217711"/>
              </a:tblGrid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Microscope</a:t>
                      </a:r>
                    </a:p>
                  </a:txBody>
                  <a:tcPr marL="109728" marR="91440" marT="45720" marB="45720" anchor="ctr">
                    <a:solidFill>
                      <a:srgbClr val="1B5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Resolution</a:t>
                      </a:r>
                    </a:p>
                  </a:txBody>
                  <a:tcPr marL="109728" marR="91440" marT="45720" marB="45720" anchor="ctr">
                    <a:solidFill>
                      <a:srgbClr val="1B5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Image</a:t>
                      </a:r>
                    </a:p>
                  </a:txBody>
                  <a:tcPr marL="109728" marR="91440" marT="45720" marB="45720" anchor="ctr">
                    <a:solidFill>
                      <a:srgbClr val="1B5E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Main limitation</a:t>
                      </a:r>
                    </a:p>
                  </a:txBody>
                  <a:tcPr marL="109728" marR="91440" marT="45720" marB="45720" anchor="ctr">
                    <a:solidFill>
                      <a:srgbClr val="1B5E50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Light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~0.2 µm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2-D; can view living specimens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Cannot resolve most internal ultrastructure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TEM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~0.1 nm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2-D; internal ultrastructure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Vacuum; specimen must be dead and very thin</a:t>
                      </a:r>
                    </a:p>
                  </a:txBody>
                  <a:tcPr marL="109728" marR="91440" marT="45720" marB="45720" anchor="ctr">
                    <a:solidFill>
                      <a:srgbClr val="DDECE7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52F2C"/>
                          </a:solidFill>
                          <a:latin typeface="Segoe UI"/>
                        </a:rPr>
                        <a:t>SEM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Lower than TEM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3-D; surface detail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52F2C"/>
                          </a:solidFill>
                          <a:latin typeface="Segoe UI"/>
                        </a:rPr>
                        <a:t>Vacuum; specimen dead; lower resolution than TEM</a:t>
                      </a:r>
                    </a:p>
                  </a:txBody>
                  <a:tcPr marL="109728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A7773"/>
                </a:solidFill>
                <a:latin typeface="Segoe UI"/>
              </a:rPr>
              <a:t>Electron microscopes resolve finer detail because electrons have a much shorter wavelength than light.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Drawing what you see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AQA A-level Biology · 3.2.1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252F2C"/>
                </a:solidFill>
                <a:latin typeface="Segoe UI"/>
              </a:rPr>
              <a:t>A scientific drawing is assessed against clear conventions: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1094415" cy="37490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6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104241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→  use single, clear, unbroken lines — no sketching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→  connect each label with a ruled line; label lines must not cross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→  state a magnification, or include a scale bar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→  draw every structure in proportion (relative sizes correct)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→  use no colour and no shading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Your turn — exam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AQA A-level Biology · 3.2.1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4415" cy="1371600"/>
          </a:xfrm>
          <a:prstGeom prst="round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Q1.  Figure 3 shows an alveolus photographed at × 40. The image measures 32 mm across. Calculate the actual width of the alveolus.  (2 marks)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11094415" cy="1371600"/>
          </a:xfrm>
          <a:prstGeom prst="roundRect">
            <a:avLst/>
          </a:prstGeom>
          <a:solidFill>
            <a:srgbClr val="FB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27248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252F2C"/>
                </a:solidFill>
                <a:latin typeface="Segoe UI"/>
              </a:rPr>
              <a:t>Q2.  The width was measured with a ruler marked in millimetres. State the uncertainty in the measurement and calculate the percentage error.  (2 marks)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94415" cy="1005840"/>
          </a:xfrm>
          <a:prstGeom prst="round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10424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5E50"/>
                </a:solidFill>
                <a:latin typeface="Segoe UI"/>
              </a:rPr>
              <a:t>Reminder: a ruler measurement has an uncertainty of ± 0.5 mm.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B5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0292"/>
          </a:xfrm>
          <a:prstGeom prst="rect">
            <a:avLst/>
          </a:prstGeom>
          <a:solidFill>
            <a:srgbClr val="B96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 Semibold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AQA A-level Biology · 3.2.1 Cell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A7773"/>
                </a:solidFill>
                <a:latin typeface="Segoe U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94415" cy="685800"/>
          </a:xfrm>
          <a:prstGeom prst="roundRect">
            <a:avLst/>
          </a:prstGeom>
          <a:solidFill>
            <a:srgbClr val="DDE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5E50"/>
                </a:solidFill>
                <a:latin typeface="Segoe UI"/>
              </a:rPr>
              <a:t>On your whiteboard, from memory — then show 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109441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1.  Give two features found in the cells of ALL prokaryotes.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2.  What is a capsid made of, and what does it do?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3.  Write the magnification equation and rearrange it to make actual size the subject.</a:t>
            </a:r>
          </a:p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1900" b="0">
                <a:solidFill>
                  <a:srgbClr val="252F2C"/>
                </a:solidFill>
                <a:latin typeface="Segoe UI"/>
              </a:rPr>
              <a:t>4.  Name one difference between how a TEM image and a light-microscope image look.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