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0584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DD3"/>
                </a:solidFill>
                <a:latin typeface="Segoe UI"/>
              </a:rPr>
              <a:t>AQA A-LEVEL BIOLOGY · PAPER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37360"/>
            <a:ext cx="1042416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Cell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D9E7E1"/>
                </a:solidFill>
                <a:latin typeface="Calibri"/>
              </a:rPr>
              <a:t>Organelles, prokaryotes, viruses and the microscope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0A83B"/>
                </a:solidFill>
                <a:latin typeface="Segoe UI"/>
              </a:rPr>
              <a:t>3.2.1  ·  Lesson 4 of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ED8"/>
                </a:solidFill>
                <a:latin typeface="Calibri"/>
              </a:rPr>
              <a:t>Mr D. Hollis   ·   12B Biology   ·   Thursday period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LESSON 4 ·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Today's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2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530"/>
                </a:solidFill>
                <a:latin typeface="Segoe UI"/>
              </a:rPr>
              <a:t>By the end of the lesson you will be able to: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Describe the structure and function of the main eukaryotic organelles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Compare the structure of prokaryotic and eukaryotic cells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Explain why viruses are classified as acellular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Use the light and electron microscope, and apply the magnification equation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074920"/>
            <a:ext cx="10634472" cy="960120"/>
          </a:xfrm>
          <a:prstGeom prst="rect">
            <a:avLst/>
          </a:prstGeom>
          <a:solidFill>
            <a:srgbClr val="E7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4920"/>
            <a:ext cx="109728" cy="960120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B3530"/>
                </a:solidFill>
                <a:latin typeface="Calibri"/>
              </a:rPr>
              <a:t>By the end of the lesson you'll have covered everything you need for the 3.2.1 Cell Structure exam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STARTER · NO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Do Now — retrieve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2B3530"/>
                </a:solidFill>
                <a:latin typeface="Segoe UI"/>
              </a:rPr>
              <a:t>Books open, notes away. You have 4 minutes — answer from memory: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1.  Name three structures found in every cell.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2.  What is the function of the cell-surface membrane?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3.  Give one structural difference between a plant cell and an animal cell.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4.  What does the nucleus contain?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400" b="0" i="1">
                <a:solidFill>
                  <a:srgbClr val="6B7A72"/>
                </a:solidFill>
                <a:latin typeface="Calibri"/>
              </a:rPr>
              <a:t>We'll take answers on the board before we start the new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ULTRASTRUCTURE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eukaryotic cell — key organelles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4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81328"/>
          <a:ext cx="1063447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5720"/>
                <a:gridCol w="7018751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Organelle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Nucleus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Controls all the activities of the cell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Mitochondria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Produce energy for the cell through aerobic respiration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Ribosomes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Site of protein synthesis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Rough endoplasmic reticulum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Transports the proteins made by its ribosomes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Golgi apparatus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Modifies and packages proteins into vesicles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Lysosomes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B3530"/>
                          </a:solidFill>
                          <a:latin typeface="Calibri"/>
                        </a:rPr>
                        <a:t>Contain hydrolytic enzymes to digest worn-out organelles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ULTRASTRUCTURE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Ribosomes and the rough endoplasmic reticulum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5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A ribosome is built from two subunits, each made of ribosomal RNA (rRNA) and protein. It has no membrane.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80S ribosomes (about 25 nm) are found in the eukaryotic cytoplasm; the smaller 70S type is found in prokaryotes, mitochondria and chloroplasts.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The rough endoplasmic reticulum is a system of membranes studded with ribosomes on its outer surface.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Proteins assembled on the rough ER are folded and transported to the Golgi for secretion from the cell.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PROKARYOTES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Features of prokaryotic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6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B3530"/>
                </a:solidFill>
                <a:latin typeface="Segoe UI"/>
              </a:rPr>
              <a:t>All prokaryotic cells have: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A murein (peptidoglycan) cell wall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A cell-surface membrane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70S ribosomes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Circular DNA that is not associated with histones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Plasmids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A protective capsule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One or more flagella for movement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Cell walls: three polymers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7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554480"/>
          <a:ext cx="84124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5616"/>
                <a:gridCol w="4626864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Cell-wall polymer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Plants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Cellulose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Fungi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Chitin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Bacteria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B3530"/>
                          </a:solidFill>
                          <a:latin typeface="Calibri"/>
                        </a:rPr>
                        <a:t>Murein (peptidoglycan)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7A72"/>
                </a:solidFill>
                <a:latin typeface="Calibri"/>
              </a:rPr>
              <a:t>Remember: a cell wall is not universal. Animal cells never have one — so 'has a cell wall' cannot be used to tell a bacterium from an animal cell on its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ACELLULAR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Viruses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8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Viruses are acellular and non-living — they are not made of cells and cannot reproduce outside a host cell.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Every virus contains genetic information (DNA or RNA), a capsid (a protein coat), and attachment proteins on its surface.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The attachment proteins let the virus bind to specific receptor molecules on a host cell.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Antibiotics have no effect on viruses.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MICROSCOPY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Three microscopes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9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554480"/>
          <a:ext cx="1063447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6894"/>
                <a:gridCol w="1914204"/>
                <a:gridCol w="2126894"/>
                <a:gridCol w="4466478"/>
              </a:tblGrid>
              <a:tr h="7086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Microscope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Radiation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101600" marR="101600" marT="63500" marB="63500">
                    <a:solidFill>
                      <a:srgbClr val="2C6E5C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Light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Light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~0.2 µm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2-D, colour, can view living cells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TEM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Electrons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~0.1 nm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2-D, internal ultrastructure</a:t>
                      </a:r>
                    </a:p>
                  </a:txBody>
                  <a:tcPr anchor="ctr" marL="101600" marR="101600" marT="63500" marB="63500">
                    <a:solidFill>
                      <a:srgbClr val="E7EFEA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SEM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Electrons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~10 nm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B3530"/>
                          </a:solidFill>
                          <a:latin typeface="Calibri"/>
                        </a:rPr>
                        <a:t>3-D, surface detail</a:t>
                      </a:r>
                    </a:p>
                  </a:txBody>
                  <a:tcPr anchor="ctr"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7A72"/>
                </a:solidFill>
                <a:latin typeface="Calibri"/>
              </a:rPr>
              <a:t>Electron microscopes fire a beam of electrons through a vacuum, so the specimen must be dead and specially prepared.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MICROSCOPY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Seeing the smallest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10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2B3530"/>
                </a:solidFill>
                <a:latin typeface="Calibri"/>
              </a:rPr>
              <a:t>•  A light microscope cannot show small organelles such as ribosomes because its magnification is too low.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2B3530"/>
                </a:solidFill>
                <a:latin typeface="Calibri"/>
              </a:rPr>
              <a:t>•  To see smaller organelles, you need to increase the magnification — that is why we switch to the electron microscope.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2B3530"/>
                </a:solidFill>
                <a:latin typeface="Calibri"/>
              </a:rPr>
              <a:t>•  The electron microscope gives a much higher magnification, so far more detail becomes visible.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PRACTICE ·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Magnification — 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11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10634472" cy="868680"/>
          </a:xfrm>
          <a:prstGeom prst="rect">
            <a:avLst/>
          </a:prstGeom>
          <a:solidFill>
            <a:srgbClr val="E7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481328"/>
            <a:ext cx="109728" cy="868680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481328"/>
            <a:ext cx="101498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B3530"/>
                </a:solidFill>
                <a:latin typeface="Segoe UI"/>
              </a:rPr>
              <a:t>magnification  =  image size  ÷  actual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0634472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2B3530"/>
                </a:solidFill>
                <a:latin typeface="Segoe UI"/>
              </a:rPr>
              <a:t>Independent practice — work these out now on your whiteboards: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1.  A mitochondrion has an image size of 40 mm on a photograph taken at × 8000. Calculate its actual size. Give your answer in µm.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2.  A chloroplast measures 30 mm on an image magnified × 6000. Calculate its actual length in µm.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00" b="0" i="1">
                <a:solidFill>
                  <a:srgbClr val="6B7A72"/>
                </a:solidFill>
                <a:latin typeface="Calibri"/>
              </a:rPr>
              <a:t>First one to show me the correct answer wins a merit.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CONTENT · PRACTICAL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Drawing what you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12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530"/>
                </a:solidFill>
                <a:latin typeface="Segoe UI"/>
              </a:rPr>
              <a:t>A good biological drawing: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uses single, clear, unbroken lines — no sketching, no shading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has label lines drawn with a ruler that do not cross one another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states a magnification or includes a scale bar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draws every part to the same relative scale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•  uses no colour and no shading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5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82296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DDD3"/>
                </a:solidFill>
                <a:latin typeface="Segoe UI"/>
              </a:rPr>
              <a:t>REVIEW · EXIT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Plenary &amp;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9601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FC7BB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3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AQA A-level Biology · 3.2.1 Cell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55664"/>
            <a:ext cx="2770632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2"/>
                </a:solidFill>
                <a:latin typeface="Calibri"/>
              </a:rP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34472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530"/>
                </a:solidFill>
                <a:latin typeface="Segoe UI"/>
              </a:rPr>
              <a:t>Exit ticket — from memory, on your slip: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1.  Give the three features found in every virus.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2.  State the difference between resolution and magnification.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3530"/>
                </a:solidFill>
                <a:latin typeface="Calibri"/>
              </a:rPr>
              <a:t>3.  Name the polymer that forms a bacterial cell wall.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solidFill>
            <a:srgbClr val="E7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29200"/>
            <a:ext cx="109728" cy="960120"/>
          </a:xfrm>
          <a:prstGeom prst="rect">
            <a:avLst/>
          </a:prstGeom>
          <a:solidFill>
            <a:srgbClr val="E0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93208"/>
            <a:ext cx="10149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530"/>
                </a:solidFill>
                <a:latin typeface="Calibri"/>
              </a:rPr>
              <a:t>Homework: 2023 Paper 1, Q01 (viruses) — attempt every part. Due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